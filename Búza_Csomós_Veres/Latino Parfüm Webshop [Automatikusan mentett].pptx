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82" r:id="rId8"/>
    <p:sldId id="284" r:id="rId9"/>
    <p:sldId id="273" r:id="rId10"/>
    <p:sldId id="263" r:id="rId11"/>
    <p:sldId id="274" r:id="rId12"/>
    <p:sldId id="283" r:id="rId13"/>
    <p:sldId id="265" r:id="rId14"/>
    <p:sldId id="280" r:id="rId15"/>
    <p:sldId id="277" r:id="rId16"/>
    <p:sldId id="267" r:id="rId17"/>
    <p:sldId id="271" r:id="rId18"/>
    <p:sldId id="281" r:id="rId19"/>
    <p:sldId id="276" r:id="rId20"/>
    <p:sldId id="269" r:id="rId21"/>
    <p:sldId id="270" r:id="rId22"/>
    <p:sldId id="272" r:id="rId23"/>
    <p:sldId id="278" r:id="rId24"/>
    <p:sldId id="279" r:id="rId25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eres.david@szbiszeged.local" initials="v" lastIdx="5" clrIdx="0">
    <p:extLst>
      <p:ext uri="{19B8F6BF-5375-455C-9EA6-DF929625EA0E}">
        <p15:presenceInfo xmlns:p15="http://schemas.microsoft.com/office/powerpoint/2012/main" userId="S-1-5-21-940418356-3195365988-2753802441-137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Közepesen sötét stílu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6T12:46:26.398" idx="5">
    <p:pos x="10" y="10"/>
    <p:text/>
    <p:extLst>
      <p:ext uri="{C676402C-5697-4E1C-873F-D02D1690AC5C}">
        <p15:threadingInfo xmlns:p15="http://schemas.microsoft.com/office/powerpoint/2012/main" timeZoneBias="-6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19T10:58:25.630" idx="3">
    <p:pos x="10" y="10"/>
    <p:text/>
    <p:extLst>
      <p:ext uri="{C676402C-5697-4E1C-873F-D02D1690AC5C}">
        <p15:threadingInfo xmlns:p15="http://schemas.microsoft.com/office/powerpoint/2012/main" timeZoneBias="-60"/>
      </p:ext>
    </p:extLst>
  </p:cm>
  <p:cm authorId="1" dt="2026-02-26T11:55:01.184" idx="4">
    <p:pos x="146" y="146"/>
    <p:text/>
    <p:extLst>
      <p:ext uri="{C676402C-5697-4E1C-873F-D02D1690AC5C}">
        <p15:threadingInfo xmlns:p15="http://schemas.microsoft.com/office/powerpoint/2012/main" timeZoneBias="-6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18T16:05:01.233" idx="1">
    <p:pos x="10" y="10"/>
    <p:text/>
    <p:extLst>
      <p:ext uri="{C676402C-5697-4E1C-873F-D02D1690AC5C}">
        <p15:threadingInfo xmlns:p15="http://schemas.microsoft.com/office/powerpoint/2012/main" timeZoneBias="-60"/>
      </p:ext>
    </p:extLst>
  </p:cm>
  <p:cm authorId="1" dt="2026-02-18T16:06:31.521" idx="2">
    <p:pos x="146" y="146"/>
    <p:text/>
    <p:extLst>
      <p:ext uri="{C676402C-5697-4E1C-873F-D02D1690AC5C}">
        <p15:threadingInfo xmlns:p15="http://schemas.microsoft.com/office/powerpoint/2012/main" timeZoneBias="-6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27181B0-8260-487D-A58A-385C274098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F618C635-2C1B-4A0E-94E0-BD512407F4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524AFB6-EB11-4BEC-B6EC-D4055AD68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CF00B-EF0A-4381-BA4E-E7B68E75334E}" type="datetimeFigureOut">
              <a:rPr lang="hu-HU" smtClean="0"/>
              <a:t>2026. 03. 11.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AE44666-D571-4BA3-BC76-2D02136A0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C9904D3-CCD9-47C9-89F6-DA1DA1DC0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E3021-B4AB-43F2-B4BF-4AB6DA98239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25720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B0B5462-F5B3-432D-B5E1-74AA12418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2838929-4992-4862-A0AD-EB3A955CCE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954FE9F-3080-4C44-AEE6-79EF43CE0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CF00B-EF0A-4381-BA4E-E7B68E75334E}" type="datetimeFigureOut">
              <a:rPr lang="hu-HU" smtClean="0"/>
              <a:t>2026. 03. 11.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7DF6B4E-2394-4431-B28E-46FD639E2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269C851-1D6C-4139-BB12-E24E486B6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E3021-B4AB-43F2-B4BF-4AB6DA98239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578668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C9501B4-5D86-475B-A4CD-C169E8EBD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17C1F79C-541F-448E-ADD9-D5E83305A5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25E8B8E-1EBF-436C-A1A3-A1B90C4D8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CF00B-EF0A-4381-BA4E-E7B68E75334E}" type="datetimeFigureOut">
              <a:rPr lang="hu-HU" smtClean="0"/>
              <a:t>2026. 03. 11.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3376C32-B405-4E47-B45E-6D9758DE8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890CB74-F2AC-40B2-80FD-B1698CAAC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E3021-B4AB-43F2-B4BF-4AB6DA98239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627915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7CD39FD-8680-40D4-B46E-F76E84ED9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DEB6741-2D0A-4799-8C3F-CB753E0ACF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9E4D172C-00F3-49FB-8949-8EE2DE4113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CF9F75C9-B8CC-4DB5-BA46-B7D6C00AE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CF00B-EF0A-4381-BA4E-E7B68E75334E}" type="datetimeFigureOut">
              <a:rPr lang="hu-HU" smtClean="0"/>
              <a:t>2026. 03. 11.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7C903829-B55D-45B3-9455-6E853CD62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E936D3ED-9021-4179-889E-D81E428ED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E3021-B4AB-43F2-B4BF-4AB6DA98239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596922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AC7854B-C433-4F98-B075-1984D05E9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F31E2ACB-F6C4-4B4C-BA78-8B237776DF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B45F8FE8-FA1F-4CF6-B6DF-33064FE32B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9F76A0CE-F98A-4161-8D0C-D224429702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D589E0FD-54DF-489E-980A-DCD56BA446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FA50F2C6-96C9-4319-9E28-685990E3D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CF00B-EF0A-4381-BA4E-E7B68E75334E}" type="datetimeFigureOut">
              <a:rPr lang="hu-HU" smtClean="0"/>
              <a:t>2026. 03. 11.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244C9276-AC29-457E-A79B-3295EE6A4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D9451A19-AD35-42A5-A0DC-370737D5E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E3021-B4AB-43F2-B4BF-4AB6DA98239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149564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5D6A1A3-2B50-4957-A9E6-DE5C7D289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3C7A9EF1-76E0-4578-83D0-84F4B2B6E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CF00B-EF0A-4381-BA4E-E7B68E75334E}" type="datetimeFigureOut">
              <a:rPr lang="hu-HU" smtClean="0"/>
              <a:t>2026. 03. 11.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945A2BF1-C9E5-46DB-B51D-F4F79C829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D0EDFC82-571C-4BB8-A2CD-60DDA8311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E3021-B4AB-43F2-B4BF-4AB6DA98239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545263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1884BAAC-B982-4FA7-A413-18B045DE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CF00B-EF0A-4381-BA4E-E7B68E75334E}" type="datetimeFigureOut">
              <a:rPr lang="hu-HU" smtClean="0"/>
              <a:t>2026. 03. 11.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40C1C74B-00D6-4C3C-A16F-CCB6312DD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97C8DD07-6EC3-4937-9962-33774FAAD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E3021-B4AB-43F2-B4BF-4AB6DA98239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97387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4966AE9-4933-4372-9D4F-56EADF164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7DBA3C5-C188-4B67-BB4F-95A6C3F58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FC4B8B55-AAA0-49AA-B13D-E5AED00212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BCF4AD42-46BA-4E30-BE23-3C5990E59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CF00B-EF0A-4381-BA4E-E7B68E75334E}" type="datetimeFigureOut">
              <a:rPr lang="hu-HU" smtClean="0"/>
              <a:t>2026. 03. 11.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3845B63A-84B3-494F-A087-A03853F71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F355F57E-BB8B-492D-A06E-B46A1A711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E3021-B4AB-43F2-B4BF-4AB6DA98239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456352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B80B4F0-BA44-4AC4-B36F-CAABA2D46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BB58C358-846D-4AA9-843D-047B111E98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7BD4B8FE-C417-426E-8CA1-3396772BFA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D1DED93A-527A-4196-852E-452F73DEB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CF00B-EF0A-4381-BA4E-E7B68E75334E}" type="datetimeFigureOut">
              <a:rPr lang="hu-HU" smtClean="0"/>
              <a:t>2026. 03. 11.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DBAD70FA-6093-4DE3-99CF-CDA3A7022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41365AA8-D8D9-4181-BA36-3B6DFBF72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E3021-B4AB-43F2-B4BF-4AB6DA98239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74740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AFB7A7D-EC3F-4B1E-9533-76DD41E3C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3B09B4B3-D6DA-486D-A682-A5EF4A307B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33DA071-35E9-41E6-8F91-146450E3E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CF00B-EF0A-4381-BA4E-E7B68E75334E}" type="datetimeFigureOut">
              <a:rPr lang="hu-HU" smtClean="0"/>
              <a:t>2026. 03. 11.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DE569FE7-2FFA-44AD-B570-A2AB4346B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AD49043-DD5B-4597-A21D-97EE82D36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E3021-B4AB-43F2-B4BF-4AB6DA98239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509190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C6750CA3-6C11-4407-8659-DCFECAFC43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DB7D4509-9197-47B9-AFAF-99603BDB01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F4F849F-90CE-475A-A616-874DA847D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CF00B-EF0A-4381-BA4E-E7B68E75334E}" type="datetimeFigureOut">
              <a:rPr lang="hu-HU" smtClean="0"/>
              <a:t>2026. 03. 11.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DD6CD37-765A-403D-AD6A-E1EED8235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1934847-99A4-4A46-AC77-3760ED667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E3021-B4AB-43F2-B4BF-4AB6DA98239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113638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3580AD3B-FD4D-4FA7-A1CC-2D1B7662E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52FD03A2-51A7-4B50-9315-D2EE3177AD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D83F545-2B63-409A-A356-25602F3F7D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3CF00B-EF0A-4381-BA4E-E7B68E75334E}" type="datetimeFigureOut">
              <a:rPr lang="hu-HU" smtClean="0"/>
              <a:t>2026. 03. 11.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6B5487B-E51D-41A4-BD3D-4BBCA9DB09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50D3B5C-17B2-4FD0-9222-C1798E3B06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3E3021-B4AB-43F2-B4BF-4AB6DA98239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60742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microsoft.com/office/2007/relationships/hdphoto" Target="../media/hdphoto1.wdp"/><Relationship Id="rId7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E58F341-4366-4BE0-971B-503CDB26A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61328" y="868362"/>
            <a:ext cx="9144000" cy="2387600"/>
          </a:xfr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hu-HU" b="1" dirty="0" err="1">
                <a:latin typeface="Bodoni MT" panose="02070603080606020203" pitchFamily="18" charset="0"/>
                <a:cs typeface="Poppins" panose="020B0502040204020203" pitchFamily="2" charset="-18"/>
              </a:rPr>
              <a:t>Latino</a:t>
            </a:r>
            <a:r>
              <a:rPr lang="hu-HU" b="1" dirty="0">
                <a:latin typeface="Bodoni MT" panose="02070603080606020203" pitchFamily="18" charset="0"/>
                <a:cs typeface="Poppins" panose="020B0502040204020203" pitchFamily="2" charset="-18"/>
              </a:rPr>
              <a:t> Parfüm Webshop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527A5F9F-F405-426F-AE42-995D1A3B37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57633" y="3338089"/>
            <a:ext cx="9144000" cy="1655762"/>
          </a:xfrm>
        </p:spPr>
        <p:txBody>
          <a:bodyPr/>
          <a:lstStyle/>
          <a:p>
            <a:r>
              <a:rPr lang="hu-HU" b="1" dirty="0">
                <a:latin typeface="Bodoni MT" panose="02070603080606020203" pitchFamily="18" charset="0"/>
              </a:rPr>
              <a:t>Készítette: Búza Csaba , Csomós András István, Veres Dávid</a:t>
            </a:r>
          </a:p>
        </p:txBody>
      </p:sp>
    </p:spTree>
    <p:extLst>
      <p:ext uri="{BB962C8B-B14F-4D97-AF65-F5344CB8AC3E}">
        <p14:creationId xmlns:p14="http://schemas.microsoft.com/office/powerpoint/2010/main" val="19423696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607BEBB-D66F-46FE-A30C-20CA4EF9E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7503" y="0"/>
            <a:ext cx="10515600" cy="1325563"/>
          </a:xfr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hu-HU" b="1" dirty="0">
                <a:latin typeface="Bodoni MT" panose="02070603080606020203" pitchFamily="18" charset="0"/>
              </a:rPr>
              <a:t>A </a:t>
            </a:r>
            <a:r>
              <a:rPr lang="hu-HU" b="1" dirty="0" err="1">
                <a:latin typeface="Bodoni MT" panose="02070603080606020203" pitchFamily="18" charset="0"/>
              </a:rPr>
              <a:t>Latino</a:t>
            </a:r>
            <a:r>
              <a:rPr lang="hu-HU" b="1" dirty="0">
                <a:latin typeface="Bodoni MT" panose="02070603080606020203" pitchFamily="18" charset="0"/>
              </a:rPr>
              <a:t> csapatfelosztása</a:t>
            </a:r>
          </a:p>
        </p:txBody>
      </p:sp>
      <p:graphicFrame>
        <p:nvGraphicFramePr>
          <p:cNvPr id="4" name="Táblázat 4">
            <a:extLst>
              <a:ext uri="{FF2B5EF4-FFF2-40B4-BE49-F238E27FC236}">
                <a16:creationId xmlns:a16="http://schemas.microsoft.com/office/drawing/2014/main" id="{9AE822D5-56BA-409C-ABAF-B01D62C696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4793718"/>
              </p:ext>
            </p:extLst>
          </p:nvPr>
        </p:nvGraphicFramePr>
        <p:xfrm>
          <a:off x="1854200" y="1825625"/>
          <a:ext cx="8994950" cy="222504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{073A0DAA-6AF3-43AB-8588-CEC1D06C72B9}</a:tableStyleId>
              </a:tblPr>
              <a:tblGrid>
                <a:gridCol w="3079115">
                  <a:extLst>
                    <a:ext uri="{9D8B030D-6E8A-4147-A177-3AD203B41FA5}">
                      <a16:colId xmlns:a16="http://schemas.microsoft.com/office/drawing/2014/main" val="2059117491"/>
                    </a:ext>
                  </a:extLst>
                </a:gridCol>
                <a:gridCol w="2937685">
                  <a:extLst>
                    <a:ext uri="{9D8B030D-6E8A-4147-A177-3AD203B41FA5}">
                      <a16:colId xmlns:a16="http://schemas.microsoft.com/office/drawing/2014/main" val="3954724226"/>
                    </a:ext>
                  </a:extLst>
                </a:gridCol>
                <a:gridCol w="2978150">
                  <a:extLst>
                    <a:ext uri="{9D8B030D-6E8A-4147-A177-3AD203B41FA5}">
                      <a16:colId xmlns:a16="http://schemas.microsoft.com/office/drawing/2014/main" val="26553016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b="1" dirty="0">
                          <a:latin typeface="Bodoni MT" panose="02070603080606020203" pitchFamily="18" charset="0"/>
                        </a:rPr>
                        <a:t>Búza Csaba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1" dirty="0">
                          <a:latin typeface="Bodoni MT" panose="02070603080606020203" pitchFamily="18" charset="0"/>
                        </a:rPr>
                        <a:t>Csomós András István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1" dirty="0">
                          <a:latin typeface="Bodoni MT" panose="02070603080606020203" pitchFamily="18" charset="0"/>
                        </a:rPr>
                        <a:t>Veres Dávid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66954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b="1" dirty="0">
                          <a:latin typeface="Bodoni MT" panose="02070603080606020203" pitchFamily="18" charset="0"/>
                        </a:rPr>
                        <a:t>Frontend programozás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1" dirty="0">
                          <a:latin typeface="Bodoni MT" panose="02070603080606020203" pitchFamily="18" charset="0"/>
                        </a:rPr>
                        <a:t>Frontend programozás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1" dirty="0">
                          <a:latin typeface="Bodoni MT" panose="02070603080606020203" pitchFamily="18" charset="0"/>
                        </a:rPr>
                        <a:t>Frontend programozás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3874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b="1" dirty="0">
                          <a:latin typeface="Bodoni MT" panose="02070603080606020203" pitchFamily="18" charset="0"/>
                        </a:rPr>
                        <a:t>Dokumentáció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1" dirty="0">
                          <a:latin typeface="Bodoni MT" panose="02070603080606020203" pitchFamily="18" charset="0"/>
                        </a:rPr>
                        <a:t>Adatbázis kezelés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1" dirty="0" err="1">
                          <a:latin typeface="Bodoni MT" panose="02070603080606020203" pitchFamily="18" charset="0"/>
                        </a:rPr>
                        <a:t>Stripe</a:t>
                      </a:r>
                      <a:endParaRPr lang="hu-HU" b="1" dirty="0">
                        <a:latin typeface="Bodoni MT" panose="020706030806060202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7144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b="1" dirty="0">
                          <a:latin typeface="Bodoni MT" panose="02070603080606020203" pitchFamily="18" charset="0"/>
                        </a:rPr>
                        <a:t>Backend programozás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b="1" dirty="0">
                          <a:latin typeface="Bodoni MT" panose="02070603080606020203" pitchFamily="18" charset="0"/>
                        </a:rPr>
                        <a:t>Backend programozás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b="1" dirty="0">
                          <a:latin typeface="Bodoni MT" panose="02070603080606020203" pitchFamily="18" charset="0"/>
                        </a:rPr>
                        <a:t>Dokumentáció/Prezentáció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1829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b="1" dirty="0">
                          <a:latin typeface="Bodoni MT" panose="02070603080606020203" pitchFamily="18" charset="0"/>
                        </a:rPr>
                        <a:t>CSS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1" dirty="0">
                          <a:latin typeface="Bodoni MT" panose="02070603080606020203" pitchFamily="18" charset="0"/>
                        </a:rPr>
                        <a:t>CSS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b="1" dirty="0">
                          <a:latin typeface="Bodoni MT" panose="02070603080606020203" pitchFamily="18" charset="0"/>
                        </a:rPr>
                        <a:t>CSS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01219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b="1" dirty="0">
                          <a:latin typeface="Bodoni MT" panose="02070603080606020203" pitchFamily="18" charset="0"/>
                        </a:rPr>
                        <a:t>------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1" dirty="0">
                          <a:latin typeface="Bodoni MT" panose="02070603080606020203" pitchFamily="18" charset="0"/>
                        </a:rPr>
                        <a:t>Backend/Frontend tesztelés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b="1" dirty="0">
                          <a:latin typeface="Bodoni MT" panose="02070603080606020203" pitchFamily="18" charset="0"/>
                        </a:rPr>
                        <a:t>Frontend tesztelés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41538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58404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612A5BB5-FBDC-4872-BD48-12127D6987EF}"/>
              </a:ext>
            </a:extLst>
          </p:cNvPr>
          <p:cNvSpPr txBox="1"/>
          <p:nvPr/>
        </p:nvSpPr>
        <p:spPr>
          <a:xfrm>
            <a:off x="2762653" y="1328221"/>
            <a:ext cx="319087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>
                <a:latin typeface="Bodoni MT" panose="02070603080606020203" pitchFamily="18" charset="0"/>
              </a:rPr>
              <a:t>Parfümwebshopunk széleskörű és válogatott kínálata garantálja vásárlóink teljes elégedettségét. Legyen szó klasszikus eleganciáról. Választékunk biztosítja, hogy mindenki megtalálja a személyiségéhez és stílusához tökéletesen illő karakteres illatot.</a:t>
            </a: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E139B5E2-19E7-4D92-9E07-6FF32A4179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795" y="1438384"/>
            <a:ext cx="5359400" cy="2641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1896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EC40CE44-B5FF-420D-9515-BC5F692AA7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607" b="89738" l="5892" r="98036">
                        <a14:foregroundMark x1="6710" y1="36245" x2="6874" y2="35371"/>
                        <a14:foregroundMark x1="6874" y1="36463" x2="8020" y2="38428"/>
                        <a14:foregroundMark x1="7201" y1="36900" x2="10147" y2="48690"/>
                        <a14:foregroundMark x1="10147" y1="48690" x2="9165" y2="54367"/>
                        <a14:foregroundMark x1="8674" y1="55022" x2="8838" y2="51528"/>
                        <a14:foregroundMark x1="9002" y1="51528" x2="9002" y2="51528"/>
                        <a14:foregroundMark x1="9002" y1="51528" x2="8183" y2="47162"/>
                        <a14:foregroundMark x1="6219" y1="41703" x2="5892" y2="39738"/>
                        <a14:foregroundMark x1="18985" y1="47380" x2="19476" y2="48035"/>
                        <a14:foregroundMark x1="19804" y1="45633" x2="20458" y2="48472"/>
                        <a14:foregroundMark x1="33715" y1="52620" x2="33715" y2="52620"/>
                        <a14:foregroundMark x1="45172" y1="51092" x2="45172" y2="51092"/>
                        <a14:foregroundMark x1="59902" y1="55677" x2="59902" y2="55677"/>
                        <a14:foregroundMark x1="64484" y1="53930" x2="64484" y2="53930"/>
                        <a14:foregroundMark x1="75941" y1="54148" x2="75941" y2="54148"/>
                        <a14:foregroundMark x1="87725" y1="50655" x2="87725" y2="50655"/>
                        <a14:foregroundMark x1="19804" y1="46943" x2="19804" y2="46943"/>
                        <a14:foregroundMark x1="98036" y1="60480" x2="98036" y2="60480"/>
                        <a14:foregroundMark x1="97872" y1="59825" x2="97872" y2="59825"/>
                        <a14:foregroundMark x1="9656" y1="48908" x2="9656" y2="48908"/>
                        <a14:foregroundMark x1="9656" y1="48690" x2="9656" y2="4869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6627" y="44916"/>
            <a:ext cx="1470572" cy="1023114"/>
          </a:xfrm>
          <a:prstGeom prst="rect">
            <a:avLst/>
          </a:prstGeom>
        </p:spPr>
      </p:pic>
      <p:sp>
        <p:nvSpPr>
          <p:cNvPr id="4" name="Szövegdoboz 3">
            <a:extLst>
              <a:ext uri="{FF2B5EF4-FFF2-40B4-BE49-F238E27FC236}">
                <a16:creationId xmlns:a16="http://schemas.microsoft.com/office/drawing/2014/main" id="{0BF2B0ED-E957-48D2-8FEB-41229DBF420A}"/>
              </a:ext>
            </a:extLst>
          </p:cNvPr>
          <p:cNvSpPr txBox="1"/>
          <p:nvPr/>
        </p:nvSpPr>
        <p:spPr>
          <a:xfrm>
            <a:off x="3046042" y="953264"/>
            <a:ext cx="153874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b="1" dirty="0">
                <a:latin typeface="Bodoni MT" panose="02070603080606020203" pitchFamily="18" charset="0"/>
              </a:rPr>
              <a:t>A weboldalhoz tartozó adatok tárolására a </a:t>
            </a:r>
            <a:r>
              <a:rPr lang="hu-HU" b="1" dirty="0" err="1">
                <a:latin typeface="Bodoni MT" panose="02070603080606020203" pitchFamily="18" charset="0"/>
              </a:rPr>
              <a:t>MongoDB</a:t>
            </a:r>
            <a:endParaRPr lang="hu-HU" b="1" dirty="0">
              <a:latin typeface="Bodoni MT" panose="02070603080606020203" pitchFamily="18" charset="0"/>
            </a:endParaRPr>
          </a:p>
          <a:p>
            <a:pPr algn="ctr"/>
            <a:r>
              <a:rPr lang="hu-HU" b="1" dirty="0">
                <a:latin typeface="Bodoni MT" panose="02070603080606020203" pitchFamily="18" charset="0"/>
              </a:rPr>
              <a:t> </a:t>
            </a:r>
            <a:r>
              <a:rPr lang="hu-HU" b="1" dirty="0" err="1">
                <a:latin typeface="Bodoni MT" panose="02070603080606020203" pitchFamily="18" charset="0"/>
              </a:rPr>
              <a:t>NoSQL</a:t>
            </a:r>
            <a:r>
              <a:rPr lang="hu-HU" b="1" dirty="0">
                <a:latin typeface="Bodoni MT" panose="02070603080606020203" pitchFamily="18" charset="0"/>
              </a:rPr>
              <a:t> adatbázist választottuk a rugalmas felépítése és a gyors adatkezelés miatt.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6FCBAA42-E299-4A06-8052-573152BF9A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703" r="94531">
                        <a14:foregroundMark x1="13359" y1="54688" x2="13359" y2="54688"/>
                        <a14:foregroundMark x1="4375" y1="50938" x2="4375" y2="50938"/>
                        <a14:foregroundMark x1="781" y1="58750" x2="781" y2="58750"/>
                        <a14:foregroundMark x1="27578" y1="51563" x2="27578" y2="51563"/>
                        <a14:foregroundMark x1="52812" y1="53125" x2="52812" y2="53125"/>
                        <a14:foregroundMark x1="51094" y1="43125" x2="51094" y2="43125"/>
                        <a14:foregroundMark x1="53438" y1="32656" x2="53438" y2="32656"/>
                        <a14:foregroundMark x1="52812" y1="50313" x2="52812" y2="50313"/>
                        <a14:foregroundMark x1="51406" y1="63438" x2="51406" y2="65000"/>
                        <a14:foregroundMark x1="49844" y1="71563" x2="49844" y2="71563"/>
                        <a14:foregroundMark x1="47188" y1="71563" x2="47188" y2="71563"/>
                        <a14:foregroundMark x1="47188" y1="71563" x2="51406" y2="65938"/>
                        <a14:foregroundMark x1="52031" y1="52812" x2="52031" y2="52812"/>
                        <a14:foregroundMark x1="45781" y1="49688" x2="45781" y2="49688"/>
                        <a14:foregroundMark x1="30703" y1="54688" x2="30703" y2="54688"/>
                        <a14:foregroundMark x1="11563" y1="55313" x2="11563" y2="55313"/>
                        <a14:foregroundMark x1="11719" y1="53125" x2="11719" y2="53125"/>
                        <a14:foregroundMark x1="7187" y1="49375" x2="7187" y2="49375"/>
                        <a14:foregroundMark x1="3594" y1="50938" x2="3594" y2="50938"/>
                        <a14:foregroundMark x1="24766" y1="52812" x2="24766" y2="52812"/>
                        <a14:foregroundMark x1="25547" y1="56563" x2="25547" y2="56563"/>
                        <a14:foregroundMark x1="13047" y1="61250" x2="13047" y2="61250"/>
                        <a14:foregroundMark x1="70859" y1="45938" x2="70859" y2="45938"/>
                        <a14:foregroundMark x1="70391" y1="49375" x2="70391" y2="49375"/>
                        <a14:foregroundMark x1="66484" y1="58750" x2="66484" y2="58750"/>
                        <a14:foregroundMark x1="67734" y1="59375" x2="67734" y2="59375"/>
                        <a14:foregroundMark x1="85078" y1="46563" x2="85078" y2="46563"/>
                        <a14:foregroundMark x1="88594" y1="54375" x2="88594" y2="54375"/>
                        <a14:foregroundMark x1="88125" y1="74063" x2="88125" y2="74063"/>
                        <a14:foregroundMark x1="94531" y1="63750" x2="94531" y2="63750"/>
                        <a14:foregroundMark x1="52812" y1="59375" x2="52812" y2="59375"/>
                        <a14:foregroundMark x1="28516" y1="63750" x2="28516" y2="63750"/>
                        <a14:foregroundMark x1="9844" y1="59062" x2="9844" y2="59062"/>
                        <a14:foregroundMark x1="8750" y1="49688" x2="8750" y2="49688"/>
                        <a14:foregroundMark x1="3750" y1="50625" x2="3750" y2="50625"/>
                        <a14:foregroundMark x1="1719" y1="60938" x2="1719" y2="60938"/>
                        <a14:foregroundMark x1="3125" y1="65625" x2="3125" y2="656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6090" y="247576"/>
            <a:ext cx="989910" cy="494955"/>
          </a:xfrm>
          <a:prstGeom prst="rect">
            <a:avLst/>
          </a:prstGeom>
        </p:spPr>
      </p:pic>
      <p:sp>
        <p:nvSpPr>
          <p:cNvPr id="7" name="Szövegdoboz 6">
            <a:extLst>
              <a:ext uri="{FF2B5EF4-FFF2-40B4-BE49-F238E27FC236}">
                <a16:creationId xmlns:a16="http://schemas.microsoft.com/office/drawing/2014/main" id="{1D9DBB32-E7F6-412E-B67B-D7C6EE4062F4}"/>
              </a:ext>
            </a:extLst>
          </p:cNvPr>
          <p:cNvSpPr txBox="1"/>
          <p:nvPr/>
        </p:nvSpPr>
        <p:spPr>
          <a:xfrm>
            <a:off x="4632372" y="953264"/>
            <a:ext cx="162915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b="1" dirty="0">
                <a:latin typeface="Bodoni MT" panose="02070603080606020203" pitchFamily="18" charset="0"/>
              </a:rPr>
              <a:t>A Node.js futtatókörnyezet tette lehetővé a szerver oldali feladatok gyors elvégzését és a webshop dinamikus működésének biztosítását.</a:t>
            </a: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3BFD1A3D-9661-4EA4-8D9E-25A4F6AF783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2091" y="247576"/>
            <a:ext cx="928739" cy="610263"/>
          </a:xfrm>
          <a:prstGeom prst="rect">
            <a:avLst/>
          </a:prstGeom>
        </p:spPr>
      </p:pic>
      <p:sp>
        <p:nvSpPr>
          <p:cNvPr id="10" name="Szövegdoboz 9">
            <a:extLst>
              <a:ext uri="{FF2B5EF4-FFF2-40B4-BE49-F238E27FC236}">
                <a16:creationId xmlns:a16="http://schemas.microsoft.com/office/drawing/2014/main" id="{A68A98BD-8560-4C42-A11E-9457FE27EA0B}"/>
              </a:ext>
            </a:extLst>
          </p:cNvPr>
          <p:cNvSpPr txBox="1"/>
          <p:nvPr/>
        </p:nvSpPr>
        <p:spPr>
          <a:xfrm>
            <a:off x="6203065" y="953264"/>
            <a:ext cx="185312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b="1" dirty="0">
                <a:latin typeface="Bodoni MT" panose="02070603080606020203" pitchFamily="18" charset="0"/>
              </a:rPr>
              <a:t>A weboldalunk a React.js könyvtárra épül, amely a látványos és gyors felhasználói felület (UI) elemeinek létrehozását biztosította.</a:t>
            </a:r>
          </a:p>
        </p:txBody>
      </p:sp>
      <p:pic>
        <p:nvPicPr>
          <p:cNvPr id="12" name="Kép 11">
            <a:extLst>
              <a:ext uri="{FF2B5EF4-FFF2-40B4-BE49-F238E27FC236}">
                <a16:creationId xmlns:a16="http://schemas.microsoft.com/office/drawing/2014/main" id="{DF754B16-8B64-4060-95E8-94F33FE80B3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foregroundMark x1="11458" y1="48056" x2="11458" y2="48056"/>
                        <a14:foregroundMark x1="20417" y1="52778" x2="20417" y2="52778"/>
                        <a14:foregroundMark x1="27031" y1="54722" x2="27031" y2="54722"/>
                        <a14:foregroundMark x1="36458" y1="53519" x2="36458" y2="53519"/>
                        <a14:foregroundMark x1="43698" y1="53889" x2="43698" y2="53889"/>
                        <a14:foregroundMark x1="53333" y1="53519" x2="53333" y2="53519"/>
                        <a14:foregroundMark x1="60990" y1="52315" x2="60990" y2="52315"/>
                        <a14:foregroundMark x1="71094" y1="50000" x2="71094" y2="50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203" y="-16504"/>
            <a:ext cx="1818869" cy="1023114"/>
          </a:xfrm>
          <a:prstGeom prst="rect">
            <a:avLst/>
          </a:prstGeom>
        </p:spPr>
      </p:pic>
      <p:sp>
        <p:nvSpPr>
          <p:cNvPr id="13" name="Szövegdoboz 12">
            <a:extLst>
              <a:ext uri="{FF2B5EF4-FFF2-40B4-BE49-F238E27FC236}">
                <a16:creationId xmlns:a16="http://schemas.microsoft.com/office/drawing/2014/main" id="{E0A20E50-A747-4B16-9744-94852ED63C88}"/>
              </a:ext>
            </a:extLst>
          </p:cNvPr>
          <p:cNvSpPr txBox="1"/>
          <p:nvPr/>
        </p:nvSpPr>
        <p:spPr>
          <a:xfrm>
            <a:off x="8179265" y="953264"/>
            <a:ext cx="181886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b="1" dirty="0">
                <a:latin typeface="Bodoni MT" panose="02070603080606020203" pitchFamily="18" charset="0"/>
              </a:rPr>
              <a:t>Az Express.js használatával tudtuk hatékonyan kezelni a HTTP lekéréseket és az API-</a:t>
            </a:r>
            <a:r>
              <a:rPr lang="hu-HU" b="1" dirty="0" err="1">
                <a:latin typeface="Bodoni MT" panose="02070603080606020203" pitchFamily="18" charset="0"/>
              </a:rPr>
              <a:t>kat</a:t>
            </a:r>
            <a:r>
              <a:rPr lang="hu-HU" b="1" dirty="0">
                <a:latin typeface="Bodoni MT" panose="02070603080606020203" pitchFamily="18" charset="0"/>
              </a:rPr>
              <a:t>, biztosítva a szerver és a kliens közötti folyamatos kommunikációt.</a:t>
            </a:r>
          </a:p>
        </p:txBody>
      </p:sp>
    </p:spTree>
    <p:extLst>
      <p:ext uri="{BB962C8B-B14F-4D97-AF65-F5344CB8AC3E}">
        <p14:creationId xmlns:p14="http://schemas.microsoft.com/office/powerpoint/2010/main" val="27362439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A73FEDD9-D375-4F89-AFE2-91F027148C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533" y="44873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hu-HU"/>
          </a:p>
        </p:txBody>
      </p:sp>
      <p:cxnSp>
        <p:nvCxnSpPr>
          <p:cNvPr id="8" name="Egyenes összekötő 7">
            <a:extLst>
              <a:ext uri="{FF2B5EF4-FFF2-40B4-BE49-F238E27FC236}">
                <a16:creationId xmlns:a16="http://schemas.microsoft.com/office/drawing/2014/main" id="{9EFF13F1-4D8B-4C6C-B35F-660436627C1D}"/>
              </a:ext>
            </a:extLst>
          </p:cNvPr>
          <p:cNvCxnSpPr>
            <a:cxnSpLocks/>
          </p:cNvCxnSpPr>
          <p:nvPr/>
        </p:nvCxnSpPr>
        <p:spPr>
          <a:xfrm>
            <a:off x="3075598" y="3171778"/>
            <a:ext cx="6841401" cy="0"/>
          </a:xfrm>
          <a:prstGeom prst="line">
            <a:avLst/>
          </a:prstGeom>
          <a:ln w="133350"/>
          <a:effectLst>
            <a:outerShdw blurRad="50800" dist="38100" dir="18900000" algn="bl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Egyenes összekötő 11">
            <a:extLst>
              <a:ext uri="{FF2B5EF4-FFF2-40B4-BE49-F238E27FC236}">
                <a16:creationId xmlns:a16="http://schemas.microsoft.com/office/drawing/2014/main" id="{164E48CF-E4BA-4218-A585-D5C4468BD1FC}"/>
              </a:ext>
            </a:extLst>
          </p:cNvPr>
          <p:cNvCxnSpPr>
            <a:cxnSpLocks/>
          </p:cNvCxnSpPr>
          <p:nvPr/>
        </p:nvCxnSpPr>
        <p:spPr>
          <a:xfrm>
            <a:off x="3075598" y="2877874"/>
            <a:ext cx="0" cy="551126"/>
          </a:xfrm>
          <a:prstGeom prst="line">
            <a:avLst/>
          </a:prstGeom>
          <a:ln w="95250"/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Egyenes összekötő 13">
            <a:extLst>
              <a:ext uri="{FF2B5EF4-FFF2-40B4-BE49-F238E27FC236}">
                <a16:creationId xmlns:a16="http://schemas.microsoft.com/office/drawing/2014/main" id="{91CA3DA5-CB02-4A75-8FA7-E0BCAD3EAEB1}"/>
              </a:ext>
            </a:extLst>
          </p:cNvPr>
          <p:cNvCxnSpPr>
            <a:cxnSpLocks/>
          </p:cNvCxnSpPr>
          <p:nvPr/>
        </p:nvCxnSpPr>
        <p:spPr>
          <a:xfrm>
            <a:off x="9916999" y="2877874"/>
            <a:ext cx="0" cy="551126"/>
          </a:xfrm>
          <a:prstGeom prst="line">
            <a:avLst/>
          </a:prstGeom>
          <a:ln w="95250"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AE4F0EF0-DEEE-4826-AFC6-1CB96960D0E1}"/>
              </a:ext>
            </a:extLst>
          </p:cNvPr>
          <p:cNvSpPr txBox="1"/>
          <p:nvPr/>
        </p:nvSpPr>
        <p:spPr>
          <a:xfrm>
            <a:off x="3979334" y="220134"/>
            <a:ext cx="3979333" cy="64633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hu-HU" sz="3600" b="1" dirty="0">
                <a:latin typeface="Bodoni MT" panose="02070603080606020203" pitchFamily="18" charset="0"/>
              </a:rPr>
              <a:t>A projekt idővonala</a:t>
            </a:r>
          </a:p>
        </p:txBody>
      </p:sp>
      <p:pic>
        <p:nvPicPr>
          <p:cNvPr id="17" name="Kép 16">
            <a:extLst>
              <a:ext uri="{FF2B5EF4-FFF2-40B4-BE49-F238E27FC236}">
                <a16:creationId xmlns:a16="http://schemas.microsoft.com/office/drawing/2014/main" id="{656EA6C1-8181-4A53-BD46-9F06814510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50222" y1="28444" x2="50222" y2="284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7952" y="4958726"/>
            <a:ext cx="936096" cy="936096"/>
          </a:xfrm>
          <a:prstGeom prst="rect">
            <a:avLst/>
          </a:prstGeom>
        </p:spPr>
      </p:pic>
      <p:sp>
        <p:nvSpPr>
          <p:cNvPr id="5" name="Beszédbuborék: lekerekített sarkú téglalap 4">
            <a:extLst>
              <a:ext uri="{FF2B5EF4-FFF2-40B4-BE49-F238E27FC236}">
                <a16:creationId xmlns:a16="http://schemas.microsoft.com/office/drawing/2014/main" id="{1B7F805D-2D72-4C26-A42C-969AB56C8070}"/>
              </a:ext>
            </a:extLst>
          </p:cNvPr>
          <p:cNvSpPr/>
          <p:nvPr/>
        </p:nvSpPr>
        <p:spPr>
          <a:xfrm>
            <a:off x="3038678" y="1667481"/>
            <a:ext cx="1600201" cy="695964"/>
          </a:xfrm>
          <a:prstGeom prst="wedgeRoundRectCallou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/>
              <a:t>Ötletelés a projekt témájáról</a:t>
            </a:r>
          </a:p>
        </p:txBody>
      </p:sp>
      <p:sp>
        <p:nvSpPr>
          <p:cNvPr id="9" name="Kivonás jele 8">
            <a:extLst>
              <a:ext uri="{FF2B5EF4-FFF2-40B4-BE49-F238E27FC236}">
                <a16:creationId xmlns:a16="http://schemas.microsoft.com/office/drawing/2014/main" id="{4760851C-49AD-4FC8-98BB-B30B54BC5BD8}"/>
              </a:ext>
            </a:extLst>
          </p:cNvPr>
          <p:cNvSpPr/>
          <p:nvPr/>
        </p:nvSpPr>
        <p:spPr>
          <a:xfrm rot="5400000">
            <a:off x="3201165" y="2947174"/>
            <a:ext cx="551128" cy="412529"/>
          </a:xfrm>
          <a:prstGeom prst="mathMinu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C0E943EC-0D54-42E5-8F1D-1BA5CF0CDAF7}"/>
              </a:ext>
            </a:extLst>
          </p:cNvPr>
          <p:cNvSpPr txBox="1"/>
          <p:nvPr/>
        </p:nvSpPr>
        <p:spPr>
          <a:xfrm>
            <a:off x="3075598" y="2538604"/>
            <a:ext cx="112073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100" b="1" dirty="0">
                <a:latin typeface="Bodoni MT" panose="02070603080606020203" pitchFamily="18" charset="0"/>
              </a:rPr>
              <a:t>Szept. 1 –</a:t>
            </a:r>
          </a:p>
          <a:p>
            <a:r>
              <a:rPr lang="hu-HU" sz="1100" b="1" dirty="0">
                <a:latin typeface="Bodoni MT" panose="02070603080606020203" pitchFamily="18" charset="0"/>
              </a:rPr>
              <a:t> 30</a:t>
            </a:r>
          </a:p>
        </p:txBody>
      </p:sp>
      <p:sp>
        <p:nvSpPr>
          <p:cNvPr id="16" name="Kivonás jele 15">
            <a:extLst>
              <a:ext uri="{FF2B5EF4-FFF2-40B4-BE49-F238E27FC236}">
                <a16:creationId xmlns:a16="http://schemas.microsoft.com/office/drawing/2014/main" id="{FBB8F86F-B331-47AF-A396-B4717E5506AA}"/>
              </a:ext>
            </a:extLst>
          </p:cNvPr>
          <p:cNvSpPr/>
          <p:nvPr/>
        </p:nvSpPr>
        <p:spPr>
          <a:xfrm rot="5400000">
            <a:off x="3808559" y="2940490"/>
            <a:ext cx="551128" cy="412529"/>
          </a:xfrm>
          <a:prstGeom prst="mathMinu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" name="Beszédbuborék: lekerekített sarkú téglalap 18">
            <a:extLst>
              <a:ext uri="{FF2B5EF4-FFF2-40B4-BE49-F238E27FC236}">
                <a16:creationId xmlns:a16="http://schemas.microsoft.com/office/drawing/2014/main" id="{DCA34596-0AD6-4681-8C15-CE2CA768348B}"/>
              </a:ext>
            </a:extLst>
          </p:cNvPr>
          <p:cNvSpPr/>
          <p:nvPr/>
        </p:nvSpPr>
        <p:spPr>
          <a:xfrm rot="10800000">
            <a:off x="2941167" y="3857152"/>
            <a:ext cx="1651025" cy="695953"/>
          </a:xfrm>
          <a:prstGeom prst="wedgeRoundRectCallou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0" name="Szövegdoboz 19">
            <a:extLst>
              <a:ext uri="{FF2B5EF4-FFF2-40B4-BE49-F238E27FC236}">
                <a16:creationId xmlns:a16="http://schemas.microsoft.com/office/drawing/2014/main" id="{FB57ACB5-5E4B-4E72-ACD3-368AF3A8F405}"/>
              </a:ext>
            </a:extLst>
          </p:cNvPr>
          <p:cNvSpPr txBox="1"/>
          <p:nvPr/>
        </p:nvSpPr>
        <p:spPr>
          <a:xfrm>
            <a:off x="3228131" y="4046413"/>
            <a:ext cx="14286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>
                <a:solidFill>
                  <a:schemeClr val="bg1">
                    <a:lumMod val="95000"/>
                  </a:schemeClr>
                </a:solidFill>
              </a:rPr>
              <a:t>Első lépések</a:t>
            </a:r>
          </a:p>
        </p:txBody>
      </p:sp>
      <p:sp>
        <p:nvSpPr>
          <p:cNvPr id="22" name="Szövegdoboz 21">
            <a:extLst>
              <a:ext uri="{FF2B5EF4-FFF2-40B4-BE49-F238E27FC236}">
                <a16:creationId xmlns:a16="http://schemas.microsoft.com/office/drawing/2014/main" id="{42021876-F1C7-4D8B-8C44-82CA387729B9}"/>
              </a:ext>
            </a:extLst>
          </p:cNvPr>
          <p:cNvSpPr txBox="1"/>
          <p:nvPr/>
        </p:nvSpPr>
        <p:spPr>
          <a:xfrm>
            <a:off x="3635965" y="3522097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100" b="1" dirty="0">
                <a:latin typeface="Bodoni MT" panose="02070603080606020203" pitchFamily="18" charset="0"/>
              </a:rPr>
              <a:t>Okt. 1 –14</a:t>
            </a:r>
          </a:p>
        </p:txBody>
      </p:sp>
      <p:sp>
        <p:nvSpPr>
          <p:cNvPr id="24" name="Kivonás jele 23">
            <a:extLst>
              <a:ext uri="{FF2B5EF4-FFF2-40B4-BE49-F238E27FC236}">
                <a16:creationId xmlns:a16="http://schemas.microsoft.com/office/drawing/2014/main" id="{F5827436-3BC0-4E99-AB0E-7F7A7AD68A58}"/>
              </a:ext>
            </a:extLst>
          </p:cNvPr>
          <p:cNvSpPr/>
          <p:nvPr/>
        </p:nvSpPr>
        <p:spPr>
          <a:xfrm rot="5400000">
            <a:off x="4817082" y="2940491"/>
            <a:ext cx="551128" cy="412529"/>
          </a:xfrm>
          <a:prstGeom prst="mathMinu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" name="Beszédbuborék: lekerekített sarkú téglalap 24">
            <a:extLst>
              <a:ext uri="{FF2B5EF4-FFF2-40B4-BE49-F238E27FC236}">
                <a16:creationId xmlns:a16="http://schemas.microsoft.com/office/drawing/2014/main" id="{021DB496-46EB-4218-9E80-60225E94F8B3}"/>
              </a:ext>
            </a:extLst>
          </p:cNvPr>
          <p:cNvSpPr/>
          <p:nvPr/>
        </p:nvSpPr>
        <p:spPr>
          <a:xfrm>
            <a:off x="4684471" y="1652086"/>
            <a:ext cx="1600201" cy="695964"/>
          </a:xfrm>
          <a:prstGeom prst="wedgeRoundRectCallou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/>
              <a:t>Első prototípus, később backend</a:t>
            </a:r>
          </a:p>
        </p:txBody>
      </p:sp>
      <p:sp>
        <p:nvSpPr>
          <p:cNvPr id="27" name="Szövegdoboz 26">
            <a:extLst>
              <a:ext uri="{FF2B5EF4-FFF2-40B4-BE49-F238E27FC236}">
                <a16:creationId xmlns:a16="http://schemas.microsoft.com/office/drawing/2014/main" id="{EA8B3AE5-9B20-4189-A0D4-2C5C0E96D512}"/>
              </a:ext>
            </a:extLst>
          </p:cNvPr>
          <p:cNvSpPr txBox="1"/>
          <p:nvPr/>
        </p:nvSpPr>
        <p:spPr>
          <a:xfrm>
            <a:off x="4886381" y="2486405"/>
            <a:ext cx="71130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100" b="1" dirty="0">
                <a:latin typeface="Bodoni MT" panose="02070603080606020203" pitchFamily="18" charset="0"/>
              </a:rPr>
              <a:t>Okt. 15 –</a:t>
            </a:r>
          </a:p>
          <a:p>
            <a:r>
              <a:rPr lang="hu-HU" sz="1100" b="1" dirty="0">
                <a:latin typeface="Bodoni MT" panose="02070603080606020203" pitchFamily="18" charset="0"/>
              </a:rPr>
              <a:t> Nov. 11</a:t>
            </a:r>
          </a:p>
        </p:txBody>
      </p:sp>
    </p:spTree>
    <p:extLst>
      <p:ext uri="{BB962C8B-B14F-4D97-AF65-F5344CB8AC3E}">
        <p14:creationId xmlns:p14="http://schemas.microsoft.com/office/powerpoint/2010/main" val="37897091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A3A3C02B-6D11-4980-8FC8-99329861F43F}"/>
              </a:ext>
            </a:extLst>
          </p:cNvPr>
          <p:cNvSpPr txBox="1"/>
          <p:nvPr/>
        </p:nvSpPr>
        <p:spPr>
          <a:xfrm>
            <a:off x="4216399" y="322606"/>
            <a:ext cx="3759201" cy="584775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hu-HU" sz="3200" b="1" dirty="0">
                <a:latin typeface="Bodoni MT" panose="02070603080606020203" pitchFamily="18" charset="0"/>
              </a:rPr>
              <a:t>A Backend oldalunk: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552FB1F2-5BA8-4E65-9B89-C099474F00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9538" y="907381"/>
            <a:ext cx="8032924" cy="3959951"/>
          </a:xfrm>
          <a:prstGeom prst="rect">
            <a:avLst/>
          </a:prstGeom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1D65964B-855E-435B-9D35-F9399D70D53C}"/>
              </a:ext>
            </a:extLst>
          </p:cNvPr>
          <p:cNvSpPr txBox="1"/>
          <p:nvPr/>
        </p:nvSpPr>
        <p:spPr>
          <a:xfrm>
            <a:off x="4114799" y="5248934"/>
            <a:ext cx="41994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>
                <a:latin typeface="Bodoni MT" panose="02070603080606020203" pitchFamily="18" charset="0"/>
              </a:rPr>
              <a:t>A backend oldalon a parfümöket tudjuk módosítani és törölni.</a:t>
            </a:r>
          </a:p>
        </p:txBody>
      </p:sp>
      <p:sp>
        <p:nvSpPr>
          <p:cNvPr id="3" name="Nyíl: jobbra mutató 2">
            <a:extLst>
              <a:ext uri="{FF2B5EF4-FFF2-40B4-BE49-F238E27FC236}">
                <a16:creationId xmlns:a16="http://schemas.microsoft.com/office/drawing/2014/main" id="{E74C47B0-5AC1-4867-BCF3-681DA4415CA4}"/>
              </a:ext>
            </a:extLst>
          </p:cNvPr>
          <p:cNvSpPr/>
          <p:nvPr/>
        </p:nvSpPr>
        <p:spPr>
          <a:xfrm>
            <a:off x="2413000" y="3937000"/>
            <a:ext cx="579967" cy="279400"/>
          </a:xfrm>
          <a:prstGeom prst="rightArrow">
            <a:avLst/>
          </a:prstGeom>
          <a:solidFill>
            <a:schemeClr val="bg1">
              <a:lumMod val="65000"/>
            </a:schemeClr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418FFEA2-3B6B-48D2-AE70-264E9B1BC3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9538" y="907381"/>
            <a:ext cx="8167603" cy="4039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5863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A3A3C02B-6D11-4980-8FC8-99329861F43F}"/>
              </a:ext>
            </a:extLst>
          </p:cNvPr>
          <p:cNvSpPr txBox="1"/>
          <p:nvPr/>
        </p:nvSpPr>
        <p:spPr>
          <a:xfrm>
            <a:off x="4035892" y="322606"/>
            <a:ext cx="3759201" cy="584775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hu-HU" sz="3200" b="1" dirty="0">
                <a:latin typeface="Bodoni MT" panose="02070603080606020203" pitchFamily="18" charset="0"/>
              </a:rPr>
              <a:t>A Backend oldalunk: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02AC29C8-A638-4A4D-85C7-B4C7DF3CF7D5}"/>
              </a:ext>
            </a:extLst>
          </p:cNvPr>
          <p:cNvSpPr txBox="1"/>
          <p:nvPr/>
        </p:nvSpPr>
        <p:spPr>
          <a:xfrm>
            <a:off x="3395313" y="5444068"/>
            <a:ext cx="574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>
                <a:latin typeface="Bodoni MT" panose="02070603080606020203" pitchFamily="18" charset="0"/>
              </a:rPr>
              <a:t>Illetve új parfümöket tudunk hozzáadni az oldalhoz.</a:t>
            </a:r>
            <a:endParaRPr lang="hu-HU" dirty="0"/>
          </a:p>
        </p:txBody>
      </p:sp>
      <p:pic>
        <p:nvPicPr>
          <p:cNvPr id="12" name="Kép 11">
            <a:extLst>
              <a:ext uri="{FF2B5EF4-FFF2-40B4-BE49-F238E27FC236}">
                <a16:creationId xmlns:a16="http://schemas.microsoft.com/office/drawing/2014/main" id="{3DF0DB8A-11EF-4DDB-9EA3-3310576C2E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6093" y="974479"/>
            <a:ext cx="8178800" cy="4031863"/>
          </a:xfrm>
          <a:prstGeom prst="rect">
            <a:avLst/>
          </a:prstGeom>
        </p:spPr>
      </p:pic>
      <p:sp>
        <p:nvSpPr>
          <p:cNvPr id="13" name="Nyíl: jobbra mutató 12">
            <a:extLst>
              <a:ext uri="{FF2B5EF4-FFF2-40B4-BE49-F238E27FC236}">
                <a16:creationId xmlns:a16="http://schemas.microsoft.com/office/drawing/2014/main" id="{8501F58E-80A2-46E3-A7A0-356950B46B49}"/>
              </a:ext>
            </a:extLst>
          </p:cNvPr>
          <p:cNvSpPr/>
          <p:nvPr/>
        </p:nvSpPr>
        <p:spPr>
          <a:xfrm rot="10800000">
            <a:off x="2442814" y="1422400"/>
            <a:ext cx="672919" cy="296334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C2761D69-0F74-4F04-8ED1-DACE6A8A1A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6094" y="974479"/>
            <a:ext cx="8178799" cy="4117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9216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A3A3C02B-6D11-4980-8FC8-99329861F43F}"/>
              </a:ext>
            </a:extLst>
          </p:cNvPr>
          <p:cNvSpPr txBox="1"/>
          <p:nvPr/>
        </p:nvSpPr>
        <p:spPr>
          <a:xfrm>
            <a:off x="4035892" y="322606"/>
            <a:ext cx="3759201" cy="584775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hu-HU" sz="3200" b="1" dirty="0">
                <a:latin typeface="Bodoni MT" panose="02070603080606020203" pitchFamily="18" charset="0"/>
              </a:rPr>
              <a:t>A Backend oldalunk: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02AC29C8-A638-4A4D-85C7-B4C7DF3CF7D5}"/>
              </a:ext>
            </a:extLst>
          </p:cNvPr>
          <p:cNvSpPr txBox="1"/>
          <p:nvPr/>
        </p:nvSpPr>
        <p:spPr>
          <a:xfrm>
            <a:off x="3043938" y="5198535"/>
            <a:ext cx="57431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>
                <a:latin typeface="Bodoni MT" panose="02070603080606020203" pitchFamily="18" charset="0"/>
              </a:rPr>
              <a:t>Lehetőség van a kínálat szűrésére parfümmárkák szerint, valamint célzott keresésre a kedvezmények mértéke (százalékos aránya) alapján is.</a:t>
            </a:r>
          </a:p>
        </p:txBody>
      </p:sp>
      <p:pic>
        <p:nvPicPr>
          <p:cNvPr id="12" name="Kép 11">
            <a:extLst>
              <a:ext uri="{FF2B5EF4-FFF2-40B4-BE49-F238E27FC236}">
                <a16:creationId xmlns:a16="http://schemas.microsoft.com/office/drawing/2014/main" id="{3DF0DB8A-11EF-4DDB-9EA3-3310576C2E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6093" y="974479"/>
            <a:ext cx="8178800" cy="4031863"/>
          </a:xfrm>
          <a:prstGeom prst="rect">
            <a:avLst/>
          </a:prstGeom>
        </p:spPr>
      </p:pic>
      <p:sp>
        <p:nvSpPr>
          <p:cNvPr id="13" name="Nyíl: jobbra mutató 12">
            <a:extLst>
              <a:ext uri="{FF2B5EF4-FFF2-40B4-BE49-F238E27FC236}">
                <a16:creationId xmlns:a16="http://schemas.microsoft.com/office/drawing/2014/main" id="{8501F58E-80A2-46E3-A7A0-356950B46B49}"/>
              </a:ext>
            </a:extLst>
          </p:cNvPr>
          <p:cNvSpPr/>
          <p:nvPr/>
        </p:nvSpPr>
        <p:spPr>
          <a:xfrm rot="9201811">
            <a:off x="2620614" y="1549400"/>
            <a:ext cx="664453" cy="33020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4DFE25A4-5C49-4FEE-A78A-45479E042F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093" y="974479"/>
            <a:ext cx="8178800" cy="4031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A73FEDD9-D375-4F89-AFE2-91F027148C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533" y="44873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hu-HU"/>
          </a:p>
        </p:txBody>
      </p:sp>
      <p:cxnSp>
        <p:nvCxnSpPr>
          <p:cNvPr id="8" name="Egyenes összekötő 7">
            <a:extLst>
              <a:ext uri="{FF2B5EF4-FFF2-40B4-BE49-F238E27FC236}">
                <a16:creationId xmlns:a16="http://schemas.microsoft.com/office/drawing/2014/main" id="{9EFF13F1-4D8B-4C6C-B35F-660436627C1D}"/>
              </a:ext>
            </a:extLst>
          </p:cNvPr>
          <p:cNvCxnSpPr>
            <a:cxnSpLocks/>
          </p:cNvCxnSpPr>
          <p:nvPr/>
        </p:nvCxnSpPr>
        <p:spPr>
          <a:xfrm>
            <a:off x="3075598" y="3171778"/>
            <a:ext cx="6841401" cy="0"/>
          </a:xfrm>
          <a:prstGeom prst="line">
            <a:avLst/>
          </a:prstGeom>
          <a:ln w="133350"/>
          <a:effectLst>
            <a:outerShdw blurRad="50800" dist="38100" dir="18900000" algn="bl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Egyenes összekötő 11">
            <a:extLst>
              <a:ext uri="{FF2B5EF4-FFF2-40B4-BE49-F238E27FC236}">
                <a16:creationId xmlns:a16="http://schemas.microsoft.com/office/drawing/2014/main" id="{164E48CF-E4BA-4218-A585-D5C4468BD1FC}"/>
              </a:ext>
            </a:extLst>
          </p:cNvPr>
          <p:cNvCxnSpPr>
            <a:cxnSpLocks/>
          </p:cNvCxnSpPr>
          <p:nvPr/>
        </p:nvCxnSpPr>
        <p:spPr>
          <a:xfrm>
            <a:off x="3075598" y="2877874"/>
            <a:ext cx="0" cy="551126"/>
          </a:xfrm>
          <a:prstGeom prst="line">
            <a:avLst/>
          </a:prstGeom>
          <a:ln w="95250"/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Egyenes összekötő 13">
            <a:extLst>
              <a:ext uri="{FF2B5EF4-FFF2-40B4-BE49-F238E27FC236}">
                <a16:creationId xmlns:a16="http://schemas.microsoft.com/office/drawing/2014/main" id="{91CA3DA5-CB02-4A75-8FA7-E0BCAD3EAEB1}"/>
              </a:ext>
            </a:extLst>
          </p:cNvPr>
          <p:cNvCxnSpPr>
            <a:cxnSpLocks/>
          </p:cNvCxnSpPr>
          <p:nvPr/>
        </p:nvCxnSpPr>
        <p:spPr>
          <a:xfrm>
            <a:off x="9916999" y="2877874"/>
            <a:ext cx="0" cy="551126"/>
          </a:xfrm>
          <a:prstGeom prst="line">
            <a:avLst/>
          </a:prstGeom>
          <a:ln w="95250"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AE4F0EF0-DEEE-4826-AFC6-1CB96960D0E1}"/>
              </a:ext>
            </a:extLst>
          </p:cNvPr>
          <p:cNvSpPr txBox="1"/>
          <p:nvPr/>
        </p:nvSpPr>
        <p:spPr>
          <a:xfrm>
            <a:off x="3979334" y="220134"/>
            <a:ext cx="3979333" cy="64633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hu-HU" sz="3600" b="1" dirty="0">
                <a:latin typeface="Bodoni MT" panose="02070603080606020203" pitchFamily="18" charset="0"/>
              </a:rPr>
              <a:t>A projekt idővonala</a:t>
            </a:r>
          </a:p>
        </p:txBody>
      </p:sp>
      <p:pic>
        <p:nvPicPr>
          <p:cNvPr id="17" name="Kép 16">
            <a:extLst>
              <a:ext uri="{FF2B5EF4-FFF2-40B4-BE49-F238E27FC236}">
                <a16:creationId xmlns:a16="http://schemas.microsoft.com/office/drawing/2014/main" id="{656EA6C1-8181-4A53-BD46-9F06814510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50222" y1="28444" x2="50222" y2="284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7689" y="5235600"/>
            <a:ext cx="936096" cy="936096"/>
          </a:xfrm>
          <a:prstGeom prst="rect">
            <a:avLst/>
          </a:prstGeom>
        </p:spPr>
      </p:pic>
      <p:sp>
        <p:nvSpPr>
          <p:cNvPr id="5" name="Beszédbuborék: lekerekített sarkú téglalap 4">
            <a:extLst>
              <a:ext uri="{FF2B5EF4-FFF2-40B4-BE49-F238E27FC236}">
                <a16:creationId xmlns:a16="http://schemas.microsoft.com/office/drawing/2014/main" id="{1B7F805D-2D72-4C26-A42C-969AB56C8070}"/>
              </a:ext>
            </a:extLst>
          </p:cNvPr>
          <p:cNvSpPr/>
          <p:nvPr/>
        </p:nvSpPr>
        <p:spPr>
          <a:xfrm>
            <a:off x="3038678" y="1667481"/>
            <a:ext cx="1600201" cy="695964"/>
          </a:xfrm>
          <a:prstGeom prst="wedgeRoundRectCallou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/>
              <a:t>Ötletelés a projekt témájáról</a:t>
            </a:r>
          </a:p>
        </p:txBody>
      </p:sp>
      <p:sp>
        <p:nvSpPr>
          <p:cNvPr id="9" name="Kivonás jele 8">
            <a:extLst>
              <a:ext uri="{FF2B5EF4-FFF2-40B4-BE49-F238E27FC236}">
                <a16:creationId xmlns:a16="http://schemas.microsoft.com/office/drawing/2014/main" id="{4760851C-49AD-4FC8-98BB-B30B54BC5BD8}"/>
              </a:ext>
            </a:extLst>
          </p:cNvPr>
          <p:cNvSpPr/>
          <p:nvPr/>
        </p:nvSpPr>
        <p:spPr>
          <a:xfrm rot="5400000">
            <a:off x="3201165" y="2947174"/>
            <a:ext cx="551128" cy="412529"/>
          </a:xfrm>
          <a:prstGeom prst="mathMinu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C0E943EC-0D54-42E5-8F1D-1BA5CF0CDAF7}"/>
              </a:ext>
            </a:extLst>
          </p:cNvPr>
          <p:cNvSpPr txBox="1"/>
          <p:nvPr/>
        </p:nvSpPr>
        <p:spPr>
          <a:xfrm>
            <a:off x="3075598" y="2538604"/>
            <a:ext cx="112073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100" b="1" dirty="0">
                <a:latin typeface="Bodoni MT" panose="02070603080606020203" pitchFamily="18" charset="0"/>
              </a:rPr>
              <a:t>Szept. 1 –</a:t>
            </a:r>
          </a:p>
          <a:p>
            <a:r>
              <a:rPr lang="hu-HU" sz="1100" b="1" dirty="0">
                <a:latin typeface="Bodoni MT" panose="02070603080606020203" pitchFamily="18" charset="0"/>
              </a:rPr>
              <a:t> 30</a:t>
            </a:r>
          </a:p>
        </p:txBody>
      </p:sp>
      <p:sp>
        <p:nvSpPr>
          <p:cNvPr id="16" name="Kivonás jele 15">
            <a:extLst>
              <a:ext uri="{FF2B5EF4-FFF2-40B4-BE49-F238E27FC236}">
                <a16:creationId xmlns:a16="http://schemas.microsoft.com/office/drawing/2014/main" id="{FBB8F86F-B331-47AF-A396-B4717E5506AA}"/>
              </a:ext>
            </a:extLst>
          </p:cNvPr>
          <p:cNvSpPr/>
          <p:nvPr/>
        </p:nvSpPr>
        <p:spPr>
          <a:xfrm rot="5400000">
            <a:off x="3808559" y="2940490"/>
            <a:ext cx="551128" cy="412529"/>
          </a:xfrm>
          <a:prstGeom prst="mathMinu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" name="Beszédbuborék: lekerekített sarkú téglalap 18">
            <a:extLst>
              <a:ext uri="{FF2B5EF4-FFF2-40B4-BE49-F238E27FC236}">
                <a16:creationId xmlns:a16="http://schemas.microsoft.com/office/drawing/2014/main" id="{DCA34596-0AD6-4681-8C15-CE2CA768348B}"/>
              </a:ext>
            </a:extLst>
          </p:cNvPr>
          <p:cNvSpPr/>
          <p:nvPr/>
        </p:nvSpPr>
        <p:spPr>
          <a:xfrm rot="10800000">
            <a:off x="2941167" y="3857152"/>
            <a:ext cx="1651025" cy="695953"/>
          </a:xfrm>
          <a:prstGeom prst="wedgeRoundRectCallou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0" name="Szövegdoboz 19">
            <a:extLst>
              <a:ext uri="{FF2B5EF4-FFF2-40B4-BE49-F238E27FC236}">
                <a16:creationId xmlns:a16="http://schemas.microsoft.com/office/drawing/2014/main" id="{FB57ACB5-5E4B-4E72-ACD3-368AF3A8F405}"/>
              </a:ext>
            </a:extLst>
          </p:cNvPr>
          <p:cNvSpPr txBox="1"/>
          <p:nvPr/>
        </p:nvSpPr>
        <p:spPr>
          <a:xfrm>
            <a:off x="3228131" y="4046413"/>
            <a:ext cx="14286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>
                <a:solidFill>
                  <a:schemeClr val="bg1">
                    <a:lumMod val="95000"/>
                  </a:schemeClr>
                </a:solidFill>
              </a:rPr>
              <a:t>Első lépések</a:t>
            </a:r>
          </a:p>
        </p:txBody>
      </p:sp>
      <p:sp>
        <p:nvSpPr>
          <p:cNvPr id="22" name="Szövegdoboz 21">
            <a:extLst>
              <a:ext uri="{FF2B5EF4-FFF2-40B4-BE49-F238E27FC236}">
                <a16:creationId xmlns:a16="http://schemas.microsoft.com/office/drawing/2014/main" id="{42021876-F1C7-4D8B-8C44-82CA387729B9}"/>
              </a:ext>
            </a:extLst>
          </p:cNvPr>
          <p:cNvSpPr txBox="1"/>
          <p:nvPr/>
        </p:nvSpPr>
        <p:spPr>
          <a:xfrm>
            <a:off x="3635965" y="3522097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100" b="1" dirty="0">
                <a:latin typeface="Bodoni MT" panose="02070603080606020203" pitchFamily="18" charset="0"/>
              </a:rPr>
              <a:t>Okt. 1 –14</a:t>
            </a:r>
          </a:p>
        </p:txBody>
      </p:sp>
      <p:sp>
        <p:nvSpPr>
          <p:cNvPr id="24" name="Kivonás jele 23">
            <a:extLst>
              <a:ext uri="{FF2B5EF4-FFF2-40B4-BE49-F238E27FC236}">
                <a16:creationId xmlns:a16="http://schemas.microsoft.com/office/drawing/2014/main" id="{F5827436-3BC0-4E99-AB0E-7F7A7AD68A58}"/>
              </a:ext>
            </a:extLst>
          </p:cNvPr>
          <p:cNvSpPr/>
          <p:nvPr/>
        </p:nvSpPr>
        <p:spPr>
          <a:xfrm rot="5400000">
            <a:off x="4817082" y="2940491"/>
            <a:ext cx="551128" cy="412529"/>
          </a:xfrm>
          <a:prstGeom prst="mathMinu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" name="Beszédbuborék: lekerekített sarkú téglalap 24">
            <a:extLst>
              <a:ext uri="{FF2B5EF4-FFF2-40B4-BE49-F238E27FC236}">
                <a16:creationId xmlns:a16="http://schemas.microsoft.com/office/drawing/2014/main" id="{021DB496-46EB-4218-9E80-60225E94F8B3}"/>
              </a:ext>
            </a:extLst>
          </p:cNvPr>
          <p:cNvSpPr/>
          <p:nvPr/>
        </p:nvSpPr>
        <p:spPr>
          <a:xfrm>
            <a:off x="4684471" y="1652086"/>
            <a:ext cx="1600201" cy="695964"/>
          </a:xfrm>
          <a:prstGeom prst="wedgeRoundRectCallou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/>
              <a:t>Első prototípus, később backend</a:t>
            </a:r>
            <a:endParaRPr lang="hu-HU" sz="1400" dirty="0"/>
          </a:p>
        </p:txBody>
      </p:sp>
      <p:sp>
        <p:nvSpPr>
          <p:cNvPr id="27" name="Szövegdoboz 26">
            <a:extLst>
              <a:ext uri="{FF2B5EF4-FFF2-40B4-BE49-F238E27FC236}">
                <a16:creationId xmlns:a16="http://schemas.microsoft.com/office/drawing/2014/main" id="{EA8B3AE5-9B20-4189-A0D4-2C5C0E96D512}"/>
              </a:ext>
            </a:extLst>
          </p:cNvPr>
          <p:cNvSpPr txBox="1"/>
          <p:nvPr/>
        </p:nvSpPr>
        <p:spPr>
          <a:xfrm>
            <a:off x="4886381" y="2486405"/>
            <a:ext cx="71130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100" b="1" dirty="0">
                <a:latin typeface="Bodoni MT" panose="02070603080606020203" pitchFamily="18" charset="0"/>
              </a:rPr>
              <a:t>Okt. 15 –</a:t>
            </a:r>
          </a:p>
          <a:p>
            <a:r>
              <a:rPr lang="hu-HU" sz="1100" b="1" dirty="0">
                <a:latin typeface="Bodoni MT" panose="02070603080606020203" pitchFamily="18" charset="0"/>
              </a:rPr>
              <a:t> Nov. 11</a:t>
            </a:r>
          </a:p>
        </p:txBody>
      </p:sp>
      <p:sp>
        <p:nvSpPr>
          <p:cNvPr id="18" name="Kivonás jele 17">
            <a:extLst>
              <a:ext uri="{FF2B5EF4-FFF2-40B4-BE49-F238E27FC236}">
                <a16:creationId xmlns:a16="http://schemas.microsoft.com/office/drawing/2014/main" id="{47E16B74-8C55-48EA-A336-377F82838FF4}"/>
              </a:ext>
            </a:extLst>
          </p:cNvPr>
          <p:cNvSpPr/>
          <p:nvPr/>
        </p:nvSpPr>
        <p:spPr>
          <a:xfrm rot="5400000">
            <a:off x="5614171" y="2966824"/>
            <a:ext cx="551128" cy="412529"/>
          </a:xfrm>
          <a:prstGeom prst="mathMinu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" name="Beszédbuborék: lekerekített sarkú téglalap 20">
            <a:extLst>
              <a:ext uri="{FF2B5EF4-FFF2-40B4-BE49-F238E27FC236}">
                <a16:creationId xmlns:a16="http://schemas.microsoft.com/office/drawing/2014/main" id="{0CE2FC55-BD3E-4862-BFA0-86425FA880D7}"/>
              </a:ext>
            </a:extLst>
          </p:cNvPr>
          <p:cNvSpPr/>
          <p:nvPr/>
        </p:nvSpPr>
        <p:spPr>
          <a:xfrm rot="10800000">
            <a:off x="4772176" y="3882676"/>
            <a:ext cx="1651025" cy="695953"/>
          </a:xfrm>
          <a:prstGeom prst="wedgeRoundRectCallou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36E56812-6154-467C-886F-C28B4DC4ACD3}"/>
              </a:ext>
            </a:extLst>
          </p:cNvPr>
          <p:cNvSpPr txBox="1"/>
          <p:nvPr/>
        </p:nvSpPr>
        <p:spPr>
          <a:xfrm>
            <a:off x="5009970" y="3969043"/>
            <a:ext cx="12747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>
                <a:solidFill>
                  <a:schemeClr val="bg1"/>
                </a:solidFill>
              </a:rPr>
              <a:t>Bejelentkezés és Regisztráció</a:t>
            </a:r>
          </a:p>
        </p:txBody>
      </p:sp>
      <p:sp>
        <p:nvSpPr>
          <p:cNvPr id="23" name="Szövegdoboz 22">
            <a:extLst>
              <a:ext uri="{FF2B5EF4-FFF2-40B4-BE49-F238E27FC236}">
                <a16:creationId xmlns:a16="http://schemas.microsoft.com/office/drawing/2014/main" id="{82382535-8C11-42D2-9ECF-AE701535519C}"/>
              </a:ext>
            </a:extLst>
          </p:cNvPr>
          <p:cNvSpPr txBox="1"/>
          <p:nvPr/>
        </p:nvSpPr>
        <p:spPr>
          <a:xfrm>
            <a:off x="5375564" y="3451789"/>
            <a:ext cx="112073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100" b="1" dirty="0">
                <a:latin typeface="Bodoni MT" panose="02070603080606020203" pitchFamily="18" charset="0"/>
              </a:rPr>
              <a:t>Nov. 12 –</a:t>
            </a:r>
          </a:p>
          <a:p>
            <a:r>
              <a:rPr lang="hu-HU" sz="1100" b="1" dirty="0">
                <a:latin typeface="Bodoni MT" panose="02070603080606020203" pitchFamily="18" charset="0"/>
              </a:rPr>
              <a:t>Dec. 7</a:t>
            </a:r>
          </a:p>
        </p:txBody>
      </p:sp>
    </p:spTree>
    <p:extLst>
      <p:ext uri="{BB962C8B-B14F-4D97-AF65-F5344CB8AC3E}">
        <p14:creationId xmlns:p14="http://schemas.microsoft.com/office/powerpoint/2010/main" val="33373357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05DBBE00-472B-4C0B-B8FF-4CE7BA772C1B}"/>
              </a:ext>
            </a:extLst>
          </p:cNvPr>
          <p:cNvSpPr txBox="1"/>
          <p:nvPr/>
        </p:nvSpPr>
        <p:spPr>
          <a:xfrm>
            <a:off x="2043045" y="114955"/>
            <a:ext cx="2549414" cy="1815882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hu-HU" sz="2800" b="1" dirty="0">
                <a:latin typeface="Bodoni MT" panose="02070603080606020203" pitchFamily="18" charset="0"/>
              </a:rPr>
              <a:t>Bejelentkezés</a:t>
            </a:r>
          </a:p>
          <a:p>
            <a:r>
              <a:rPr lang="hu-HU" sz="2800" b="1" dirty="0">
                <a:latin typeface="Bodoni MT" panose="02070603080606020203" pitchFamily="18" charset="0"/>
              </a:rPr>
              <a:t> és </a:t>
            </a:r>
          </a:p>
          <a:p>
            <a:r>
              <a:rPr lang="hu-HU" sz="2800" b="1" dirty="0">
                <a:latin typeface="Bodoni MT" panose="02070603080606020203" pitchFamily="18" charset="0"/>
              </a:rPr>
              <a:t>Regisztrációs </a:t>
            </a:r>
          </a:p>
          <a:p>
            <a:r>
              <a:rPr lang="hu-HU" sz="2800" b="1" dirty="0">
                <a:latin typeface="Bodoni MT" panose="02070603080606020203" pitchFamily="18" charset="0"/>
              </a:rPr>
              <a:t>felület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7BA17708-A916-4176-B25E-FACAD5AC76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656" y="1822571"/>
            <a:ext cx="2549413" cy="3212857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5B73903D-6D29-4C1D-8194-D7D3613E6D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0989" y="1822571"/>
            <a:ext cx="2180850" cy="3663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6607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A73FEDD9-D375-4F89-AFE2-91F027148C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533" y="44873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hu-HU"/>
          </a:p>
        </p:txBody>
      </p:sp>
      <p:cxnSp>
        <p:nvCxnSpPr>
          <p:cNvPr id="8" name="Egyenes összekötő 7">
            <a:extLst>
              <a:ext uri="{FF2B5EF4-FFF2-40B4-BE49-F238E27FC236}">
                <a16:creationId xmlns:a16="http://schemas.microsoft.com/office/drawing/2014/main" id="{9EFF13F1-4D8B-4C6C-B35F-660436627C1D}"/>
              </a:ext>
            </a:extLst>
          </p:cNvPr>
          <p:cNvCxnSpPr>
            <a:cxnSpLocks/>
          </p:cNvCxnSpPr>
          <p:nvPr/>
        </p:nvCxnSpPr>
        <p:spPr>
          <a:xfrm>
            <a:off x="3075598" y="3171778"/>
            <a:ext cx="6841401" cy="0"/>
          </a:xfrm>
          <a:prstGeom prst="line">
            <a:avLst/>
          </a:prstGeom>
          <a:ln w="133350"/>
          <a:effectLst>
            <a:outerShdw blurRad="50800" dist="38100" dir="18900000" algn="bl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Egyenes összekötő 11">
            <a:extLst>
              <a:ext uri="{FF2B5EF4-FFF2-40B4-BE49-F238E27FC236}">
                <a16:creationId xmlns:a16="http://schemas.microsoft.com/office/drawing/2014/main" id="{164E48CF-E4BA-4218-A585-D5C4468BD1FC}"/>
              </a:ext>
            </a:extLst>
          </p:cNvPr>
          <p:cNvCxnSpPr>
            <a:cxnSpLocks/>
          </p:cNvCxnSpPr>
          <p:nvPr/>
        </p:nvCxnSpPr>
        <p:spPr>
          <a:xfrm>
            <a:off x="3075598" y="2877874"/>
            <a:ext cx="0" cy="551126"/>
          </a:xfrm>
          <a:prstGeom prst="line">
            <a:avLst/>
          </a:prstGeom>
          <a:ln w="95250"/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Egyenes összekötő 13">
            <a:extLst>
              <a:ext uri="{FF2B5EF4-FFF2-40B4-BE49-F238E27FC236}">
                <a16:creationId xmlns:a16="http://schemas.microsoft.com/office/drawing/2014/main" id="{91CA3DA5-CB02-4A75-8FA7-E0BCAD3EAEB1}"/>
              </a:ext>
            </a:extLst>
          </p:cNvPr>
          <p:cNvCxnSpPr>
            <a:cxnSpLocks/>
          </p:cNvCxnSpPr>
          <p:nvPr/>
        </p:nvCxnSpPr>
        <p:spPr>
          <a:xfrm>
            <a:off x="9916999" y="2877874"/>
            <a:ext cx="0" cy="551126"/>
          </a:xfrm>
          <a:prstGeom prst="line">
            <a:avLst/>
          </a:prstGeom>
          <a:ln w="95250"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AE4F0EF0-DEEE-4826-AFC6-1CB96960D0E1}"/>
              </a:ext>
            </a:extLst>
          </p:cNvPr>
          <p:cNvSpPr txBox="1"/>
          <p:nvPr/>
        </p:nvSpPr>
        <p:spPr>
          <a:xfrm>
            <a:off x="3979334" y="220134"/>
            <a:ext cx="3979333" cy="64633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hu-HU" sz="3600" b="1" dirty="0">
                <a:latin typeface="Bodoni MT" panose="02070603080606020203" pitchFamily="18" charset="0"/>
              </a:rPr>
              <a:t>A projekt idővonala</a:t>
            </a:r>
          </a:p>
        </p:txBody>
      </p:sp>
      <p:pic>
        <p:nvPicPr>
          <p:cNvPr id="17" name="Kép 16">
            <a:extLst>
              <a:ext uri="{FF2B5EF4-FFF2-40B4-BE49-F238E27FC236}">
                <a16:creationId xmlns:a16="http://schemas.microsoft.com/office/drawing/2014/main" id="{656EA6C1-8181-4A53-BD46-9F06814510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50222" y1="28444" x2="50222" y2="284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7689" y="5235600"/>
            <a:ext cx="936096" cy="936096"/>
          </a:xfrm>
          <a:prstGeom prst="rect">
            <a:avLst/>
          </a:prstGeom>
        </p:spPr>
      </p:pic>
      <p:sp>
        <p:nvSpPr>
          <p:cNvPr id="5" name="Beszédbuborék: lekerekített sarkú téglalap 4">
            <a:extLst>
              <a:ext uri="{FF2B5EF4-FFF2-40B4-BE49-F238E27FC236}">
                <a16:creationId xmlns:a16="http://schemas.microsoft.com/office/drawing/2014/main" id="{1B7F805D-2D72-4C26-A42C-969AB56C8070}"/>
              </a:ext>
            </a:extLst>
          </p:cNvPr>
          <p:cNvSpPr/>
          <p:nvPr/>
        </p:nvSpPr>
        <p:spPr>
          <a:xfrm>
            <a:off x="3038678" y="1667481"/>
            <a:ext cx="1600201" cy="695964"/>
          </a:xfrm>
          <a:prstGeom prst="wedgeRoundRectCallou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/>
              <a:t>Ötletelés a projekt témájáról</a:t>
            </a:r>
          </a:p>
        </p:txBody>
      </p:sp>
      <p:sp>
        <p:nvSpPr>
          <p:cNvPr id="9" name="Kivonás jele 8">
            <a:extLst>
              <a:ext uri="{FF2B5EF4-FFF2-40B4-BE49-F238E27FC236}">
                <a16:creationId xmlns:a16="http://schemas.microsoft.com/office/drawing/2014/main" id="{4760851C-49AD-4FC8-98BB-B30B54BC5BD8}"/>
              </a:ext>
            </a:extLst>
          </p:cNvPr>
          <p:cNvSpPr/>
          <p:nvPr/>
        </p:nvSpPr>
        <p:spPr>
          <a:xfrm rot="5400000">
            <a:off x="3201165" y="2947174"/>
            <a:ext cx="551128" cy="412529"/>
          </a:xfrm>
          <a:prstGeom prst="mathMinu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C0E943EC-0D54-42E5-8F1D-1BA5CF0CDAF7}"/>
              </a:ext>
            </a:extLst>
          </p:cNvPr>
          <p:cNvSpPr txBox="1"/>
          <p:nvPr/>
        </p:nvSpPr>
        <p:spPr>
          <a:xfrm>
            <a:off x="3075598" y="2538604"/>
            <a:ext cx="112073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100" b="1" dirty="0">
                <a:latin typeface="Bodoni MT" panose="02070603080606020203" pitchFamily="18" charset="0"/>
              </a:rPr>
              <a:t>Szept. 1 –</a:t>
            </a:r>
          </a:p>
          <a:p>
            <a:r>
              <a:rPr lang="hu-HU" sz="1100" b="1" dirty="0">
                <a:latin typeface="Bodoni MT" panose="02070603080606020203" pitchFamily="18" charset="0"/>
              </a:rPr>
              <a:t> 30</a:t>
            </a:r>
          </a:p>
        </p:txBody>
      </p:sp>
      <p:sp>
        <p:nvSpPr>
          <p:cNvPr id="16" name="Kivonás jele 15">
            <a:extLst>
              <a:ext uri="{FF2B5EF4-FFF2-40B4-BE49-F238E27FC236}">
                <a16:creationId xmlns:a16="http://schemas.microsoft.com/office/drawing/2014/main" id="{FBB8F86F-B331-47AF-A396-B4717E5506AA}"/>
              </a:ext>
            </a:extLst>
          </p:cNvPr>
          <p:cNvSpPr/>
          <p:nvPr/>
        </p:nvSpPr>
        <p:spPr>
          <a:xfrm rot="5400000">
            <a:off x="3808559" y="2940490"/>
            <a:ext cx="551128" cy="412529"/>
          </a:xfrm>
          <a:prstGeom prst="mathMinu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" name="Beszédbuborék: lekerekített sarkú téglalap 18">
            <a:extLst>
              <a:ext uri="{FF2B5EF4-FFF2-40B4-BE49-F238E27FC236}">
                <a16:creationId xmlns:a16="http://schemas.microsoft.com/office/drawing/2014/main" id="{DCA34596-0AD6-4681-8C15-CE2CA768348B}"/>
              </a:ext>
            </a:extLst>
          </p:cNvPr>
          <p:cNvSpPr/>
          <p:nvPr/>
        </p:nvSpPr>
        <p:spPr>
          <a:xfrm rot="10800000">
            <a:off x="2941167" y="3857152"/>
            <a:ext cx="1651025" cy="695953"/>
          </a:xfrm>
          <a:prstGeom prst="wedgeRoundRectCallou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0" name="Szövegdoboz 19">
            <a:extLst>
              <a:ext uri="{FF2B5EF4-FFF2-40B4-BE49-F238E27FC236}">
                <a16:creationId xmlns:a16="http://schemas.microsoft.com/office/drawing/2014/main" id="{FB57ACB5-5E4B-4E72-ACD3-368AF3A8F405}"/>
              </a:ext>
            </a:extLst>
          </p:cNvPr>
          <p:cNvSpPr txBox="1"/>
          <p:nvPr/>
        </p:nvSpPr>
        <p:spPr>
          <a:xfrm>
            <a:off x="3228131" y="4046413"/>
            <a:ext cx="14286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>
                <a:solidFill>
                  <a:schemeClr val="bg1">
                    <a:lumMod val="95000"/>
                  </a:schemeClr>
                </a:solidFill>
              </a:rPr>
              <a:t>Első lépések</a:t>
            </a:r>
          </a:p>
        </p:txBody>
      </p:sp>
      <p:sp>
        <p:nvSpPr>
          <p:cNvPr id="22" name="Szövegdoboz 21">
            <a:extLst>
              <a:ext uri="{FF2B5EF4-FFF2-40B4-BE49-F238E27FC236}">
                <a16:creationId xmlns:a16="http://schemas.microsoft.com/office/drawing/2014/main" id="{42021876-F1C7-4D8B-8C44-82CA387729B9}"/>
              </a:ext>
            </a:extLst>
          </p:cNvPr>
          <p:cNvSpPr txBox="1"/>
          <p:nvPr/>
        </p:nvSpPr>
        <p:spPr>
          <a:xfrm>
            <a:off x="3635965" y="3522097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100" b="1" dirty="0">
                <a:latin typeface="Bodoni MT" panose="02070603080606020203" pitchFamily="18" charset="0"/>
              </a:rPr>
              <a:t>Okt. 1 –14</a:t>
            </a:r>
          </a:p>
        </p:txBody>
      </p:sp>
      <p:sp>
        <p:nvSpPr>
          <p:cNvPr id="24" name="Kivonás jele 23">
            <a:extLst>
              <a:ext uri="{FF2B5EF4-FFF2-40B4-BE49-F238E27FC236}">
                <a16:creationId xmlns:a16="http://schemas.microsoft.com/office/drawing/2014/main" id="{F5827436-3BC0-4E99-AB0E-7F7A7AD68A58}"/>
              </a:ext>
            </a:extLst>
          </p:cNvPr>
          <p:cNvSpPr/>
          <p:nvPr/>
        </p:nvSpPr>
        <p:spPr>
          <a:xfrm rot="5400000">
            <a:off x="4817082" y="2940491"/>
            <a:ext cx="551128" cy="412529"/>
          </a:xfrm>
          <a:prstGeom prst="mathMinu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" name="Beszédbuborék: lekerekített sarkú téglalap 24">
            <a:extLst>
              <a:ext uri="{FF2B5EF4-FFF2-40B4-BE49-F238E27FC236}">
                <a16:creationId xmlns:a16="http://schemas.microsoft.com/office/drawing/2014/main" id="{021DB496-46EB-4218-9E80-60225E94F8B3}"/>
              </a:ext>
            </a:extLst>
          </p:cNvPr>
          <p:cNvSpPr/>
          <p:nvPr/>
        </p:nvSpPr>
        <p:spPr>
          <a:xfrm>
            <a:off x="4684471" y="1652086"/>
            <a:ext cx="1600201" cy="695964"/>
          </a:xfrm>
          <a:prstGeom prst="wedgeRoundRectCallou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/>
              <a:t>Első prototípus, később backend</a:t>
            </a:r>
            <a:endParaRPr lang="hu-HU" sz="1400" dirty="0"/>
          </a:p>
        </p:txBody>
      </p:sp>
      <p:sp>
        <p:nvSpPr>
          <p:cNvPr id="27" name="Szövegdoboz 26">
            <a:extLst>
              <a:ext uri="{FF2B5EF4-FFF2-40B4-BE49-F238E27FC236}">
                <a16:creationId xmlns:a16="http://schemas.microsoft.com/office/drawing/2014/main" id="{EA8B3AE5-9B20-4189-A0D4-2C5C0E96D512}"/>
              </a:ext>
            </a:extLst>
          </p:cNvPr>
          <p:cNvSpPr txBox="1"/>
          <p:nvPr/>
        </p:nvSpPr>
        <p:spPr>
          <a:xfrm>
            <a:off x="4886381" y="2486405"/>
            <a:ext cx="71130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100" b="1" dirty="0">
                <a:latin typeface="Bodoni MT" panose="02070603080606020203" pitchFamily="18" charset="0"/>
              </a:rPr>
              <a:t>Okt. 15 –</a:t>
            </a:r>
          </a:p>
          <a:p>
            <a:r>
              <a:rPr lang="hu-HU" sz="1100" b="1" dirty="0">
                <a:latin typeface="Bodoni MT" panose="02070603080606020203" pitchFamily="18" charset="0"/>
              </a:rPr>
              <a:t> Nov. 11</a:t>
            </a:r>
          </a:p>
        </p:txBody>
      </p:sp>
      <p:sp>
        <p:nvSpPr>
          <p:cNvPr id="18" name="Kivonás jele 17">
            <a:extLst>
              <a:ext uri="{FF2B5EF4-FFF2-40B4-BE49-F238E27FC236}">
                <a16:creationId xmlns:a16="http://schemas.microsoft.com/office/drawing/2014/main" id="{47E16B74-8C55-48EA-A336-377F82838FF4}"/>
              </a:ext>
            </a:extLst>
          </p:cNvPr>
          <p:cNvSpPr/>
          <p:nvPr/>
        </p:nvSpPr>
        <p:spPr>
          <a:xfrm rot="5400000">
            <a:off x="5614171" y="2966824"/>
            <a:ext cx="551128" cy="412529"/>
          </a:xfrm>
          <a:prstGeom prst="mathMinu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" name="Beszédbuborék: lekerekített sarkú téglalap 20">
            <a:extLst>
              <a:ext uri="{FF2B5EF4-FFF2-40B4-BE49-F238E27FC236}">
                <a16:creationId xmlns:a16="http://schemas.microsoft.com/office/drawing/2014/main" id="{0CE2FC55-BD3E-4862-BFA0-86425FA880D7}"/>
              </a:ext>
            </a:extLst>
          </p:cNvPr>
          <p:cNvSpPr/>
          <p:nvPr/>
        </p:nvSpPr>
        <p:spPr>
          <a:xfrm rot="10800000">
            <a:off x="4772176" y="3882676"/>
            <a:ext cx="1651025" cy="695953"/>
          </a:xfrm>
          <a:prstGeom prst="wedgeRoundRectCallou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36E56812-6154-467C-886F-C28B4DC4ACD3}"/>
              </a:ext>
            </a:extLst>
          </p:cNvPr>
          <p:cNvSpPr txBox="1"/>
          <p:nvPr/>
        </p:nvSpPr>
        <p:spPr>
          <a:xfrm>
            <a:off x="5009970" y="3969043"/>
            <a:ext cx="12747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>
                <a:solidFill>
                  <a:schemeClr val="bg1"/>
                </a:solidFill>
              </a:rPr>
              <a:t>Bejelentkezés és Regisztráció</a:t>
            </a:r>
          </a:p>
        </p:txBody>
      </p:sp>
      <p:sp>
        <p:nvSpPr>
          <p:cNvPr id="23" name="Szövegdoboz 22">
            <a:extLst>
              <a:ext uri="{FF2B5EF4-FFF2-40B4-BE49-F238E27FC236}">
                <a16:creationId xmlns:a16="http://schemas.microsoft.com/office/drawing/2014/main" id="{82382535-8C11-42D2-9ECF-AE701535519C}"/>
              </a:ext>
            </a:extLst>
          </p:cNvPr>
          <p:cNvSpPr txBox="1"/>
          <p:nvPr/>
        </p:nvSpPr>
        <p:spPr>
          <a:xfrm>
            <a:off x="5375564" y="3451789"/>
            <a:ext cx="112073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100" b="1" dirty="0">
                <a:latin typeface="Bodoni MT" panose="02070603080606020203" pitchFamily="18" charset="0"/>
              </a:rPr>
              <a:t>Nov. 12 –</a:t>
            </a:r>
          </a:p>
          <a:p>
            <a:r>
              <a:rPr lang="hu-HU" sz="1100" b="1" dirty="0">
                <a:latin typeface="Bodoni MT" panose="02070603080606020203" pitchFamily="18" charset="0"/>
              </a:rPr>
              <a:t>Dec. 7</a:t>
            </a:r>
          </a:p>
        </p:txBody>
      </p:sp>
      <p:sp>
        <p:nvSpPr>
          <p:cNvPr id="26" name="Kivonás jele 25">
            <a:extLst>
              <a:ext uri="{FF2B5EF4-FFF2-40B4-BE49-F238E27FC236}">
                <a16:creationId xmlns:a16="http://schemas.microsoft.com/office/drawing/2014/main" id="{C96EEFFA-98ED-425B-8E70-93DE06F8B237}"/>
              </a:ext>
            </a:extLst>
          </p:cNvPr>
          <p:cNvSpPr/>
          <p:nvPr/>
        </p:nvSpPr>
        <p:spPr>
          <a:xfrm rot="5400000">
            <a:off x="6499682" y="2967451"/>
            <a:ext cx="551128" cy="412529"/>
          </a:xfrm>
          <a:prstGeom prst="mathMinu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8" name="Beszédbuborék: lekerekített sarkú téglalap 27">
            <a:extLst>
              <a:ext uri="{FF2B5EF4-FFF2-40B4-BE49-F238E27FC236}">
                <a16:creationId xmlns:a16="http://schemas.microsoft.com/office/drawing/2014/main" id="{EB1A4D11-1BB7-432E-824A-8B44373294CA}"/>
              </a:ext>
            </a:extLst>
          </p:cNvPr>
          <p:cNvSpPr/>
          <p:nvPr/>
        </p:nvSpPr>
        <p:spPr>
          <a:xfrm>
            <a:off x="6330264" y="1652086"/>
            <a:ext cx="1600201" cy="695964"/>
          </a:xfrm>
          <a:prstGeom prst="wedgeRoundRectCallou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/>
              <a:t>A kedvenc és kosár oldal</a:t>
            </a:r>
          </a:p>
        </p:txBody>
      </p:sp>
      <p:sp>
        <p:nvSpPr>
          <p:cNvPr id="29" name="Szövegdoboz 28">
            <a:extLst>
              <a:ext uri="{FF2B5EF4-FFF2-40B4-BE49-F238E27FC236}">
                <a16:creationId xmlns:a16="http://schemas.microsoft.com/office/drawing/2014/main" id="{36E23538-6938-47C2-BFD1-467E189B5954}"/>
              </a:ext>
            </a:extLst>
          </p:cNvPr>
          <p:cNvSpPr txBox="1"/>
          <p:nvPr/>
        </p:nvSpPr>
        <p:spPr>
          <a:xfrm>
            <a:off x="6480559" y="2537105"/>
            <a:ext cx="120348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100" b="1" dirty="0">
                <a:latin typeface="Bodoni MT" panose="02070603080606020203" pitchFamily="18" charset="0"/>
              </a:rPr>
              <a:t>Dec. 7 –</a:t>
            </a:r>
          </a:p>
          <a:p>
            <a:r>
              <a:rPr lang="hu-HU" sz="1100" b="1" dirty="0">
                <a:latin typeface="Bodoni MT" panose="02070603080606020203" pitchFamily="18" charset="0"/>
              </a:rPr>
              <a:t>Jan. 12</a:t>
            </a:r>
          </a:p>
        </p:txBody>
      </p:sp>
    </p:spTree>
    <p:extLst>
      <p:ext uri="{BB962C8B-B14F-4D97-AF65-F5344CB8AC3E}">
        <p14:creationId xmlns:p14="http://schemas.microsoft.com/office/powerpoint/2010/main" val="16564370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>
            <a:extLst>
              <a:ext uri="{FF2B5EF4-FFF2-40B4-BE49-F238E27FC236}">
                <a16:creationId xmlns:a16="http://schemas.microsoft.com/office/drawing/2014/main" id="{CEC6EEFB-DFA2-4883-A000-0178F88C5F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4809" y="547192"/>
            <a:ext cx="6602382" cy="3254745"/>
          </a:xfrm>
          <a:prstGeom prst="rect">
            <a:avLst/>
          </a:prstGeom>
        </p:spPr>
      </p:pic>
      <p:sp>
        <p:nvSpPr>
          <p:cNvPr id="7" name="Nyíl: jobbra mutató 6">
            <a:extLst>
              <a:ext uri="{FF2B5EF4-FFF2-40B4-BE49-F238E27FC236}">
                <a16:creationId xmlns:a16="http://schemas.microsoft.com/office/drawing/2014/main" id="{60FD2D6C-26FA-4F6C-A97B-BD161351DD54}"/>
              </a:ext>
            </a:extLst>
          </p:cNvPr>
          <p:cNvSpPr/>
          <p:nvPr/>
        </p:nvSpPr>
        <p:spPr>
          <a:xfrm rot="1550869">
            <a:off x="7008844" y="1852974"/>
            <a:ext cx="550319" cy="211153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1F9573E5-D221-4A14-8D4B-664104E378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6641" y="1958551"/>
            <a:ext cx="977184" cy="766164"/>
          </a:xfrm>
          <a:prstGeom prst="rect">
            <a:avLst/>
          </a:prstGeom>
        </p:spPr>
      </p:pic>
      <p:sp>
        <p:nvSpPr>
          <p:cNvPr id="10" name="Szövegdoboz 9">
            <a:extLst>
              <a:ext uri="{FF2B5EF4-FFF2-40B4-BE49-F238E27FC236}">
                <a16:creationId xmlns:a16="http://schemas.microsoft.com/office/drawing/2014/main" id="{83E3A53E-D334-4E2A-BC8C-0CCD46F8481E}"/>
              </a:ext>
            </a:extLst>
          </p:cNvPr>
          <p:cNvSpPr txBox="1"/>
          <p:nvPr/>
        </p:nvSpPr>
        <p:spPr>
          <a:xfrm>
            <a:off x="4186767" y="0"/>
            <a:ext cx="3818466" cy="64633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hu-HU" sz="3600" b="1" dirty="0">
                <a:latin typeface="Bodoni MT" panose="02070603080606020203" pitchFamily="18" charset="0"/>
              </a:rPr>
              <a:t>Termék áttekintés</a:t>
            </a:r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ADF5EA11-E88F-4100-85FF-EBD45FAE19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4809" y="3727959"/>
            <a:ext cx="6602382" cy="3189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5997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>
            <a:extLst>
              <a:ext uri="{FF2B5EF4-FFF2-40B4-BE49-F238E27FC236}">
                <a16:creationId xmlns:a16="http://schemas.microsoft.com/office/drawing/2014/main" id="{763BBE58-51F6-4D58-A6EF-CCB306FCBCE0}"/>
              </a:ext>
            </a:extLst>
          </p:cNvPr>
          <p:cNvSpPr txBox="1"/>
          <p:nvPr/>
        </p:nvSpPr>
        <p:spPr>
          <a:xfrm>
            <a:off x="4140200" y="0"/>
            <a:ext cx="6011333" cy="64633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hu-HU" sz="3600" b="1" dirty="0">
                <a:latin typeface="Bodoni MT" panose="02070603080606020203" pitchFamily="18" charset="0"/>
              </a:rPr>
              <a:t>A kedvencek oldal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1AFBC4A9-0DDB-459F-922A-E8E3615D6C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9030" y="646331"/>
            <a:ext cx="7034024" cy="3450931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0E65072F-9A62-4DC0-8B03-4B5CA7C904FC}"/>
              </a:ext>
            </a:extLst>
          </p:cNvPr>
          <p:cNvSpPr txBox="1"/>
          <p:nvPr/>
        </p:nvSpPr>
        <p:spPr>
          <a:xfrm>
            <a:off x="2540000" y="4097262"/>
            <a:ext cx="84412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>
                <a:latin typeface="Bodoni MT" panose="02070603080606020203" pitchFamily="18" charset="0"/>
              </a:rPr>
              <a:t>A webshop ezen része lehetővé teszi a felhasználók számára, hogy elmentsék azokat a parfümöket, amik tetszenek nekik, de még nem szeretnék azonnal megvásárolni őket.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BF21C672-104C-4BBD-8DA8-72FDE4403D50}"/>
              </a:ext>
            </a:extLst>
          </p:cNvPr>
          <p:cNvSpPr txBox="1"/>
          <p:nvPr/>
        </p:nvSpPr>
        <p:spPr>
          <a:xfrm>
            <a:off x="3811142" y="4851400"/>
            <a:ext cx="474980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>
                <a:latin typeface="Bodoni MT" panose="02070603080606020203" pitchFamily="18" charset="0"/>
              </a:rPr>
              <a:t>Főbb funkciók, amiket itt megvalósítottunk: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400" b="1" dirty="0">
                <a:latin typeface="Bodoni MT" panose="02070603080606020203" pitchFamily="18" charset="0"/>
              </a:rPr>
              <a:t>Listázás: A felhasználó egy helyen látja az összes korábban megjelölt "kedvenc" illatát, azok áraival és fotóival együtt.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400" b="1" dirty="0">
                <a:latin typeface="Bodoni MT" panose="02070603080606020203" pitchFamily="18" charset="0"/>
              </a:rPr>
              <a:t>Egyszerű kezelés: Minden termék mellett található egy „Eltávolítás” gomb, amivel a lista bármikor könnyen frissíthető.</a:t>
            </a:r>
          </a:p>
        </p:txBody>
      </p:sp>
    </p:spTree>
    <p:extLst>
      <p:ext uri="{BB962C8B-B14F-4D97-AF65-F5344CB8AC3E}">
        <p14:creationId xmlns:p14="http://schemas.microsoft.com/office/powerpoint/2010/main" val="18558986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ép 1">
            <a:extLst>
              <a:ext uri="{FF2B5EF4-FFF2-40B4-BE49-F238E27FC236}">
                <a16:creationId xmlns:a16="http://schemas.microsoft.com/office/drawing/2014/main" id="{28977541-2692-42E7-95F4-1AC6E08642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366" y="434664"/>
            <a:ext cx="6917268" cy="3310636"/>
          </a:xfrm>
          <a:prstGeom prst="rect">
            <a:avLst/>
          </a:prstGeom>
        </p:spPr>
      </p:pic>
      <p:sp>
        <p:nvSpPr>
          <p:cNvPr id="3" name="Szövegdoboz 2">
            <a:extLst>
              <a:ext uri="{FF2B5EF4-FFF2-40B4-BE49-F238E27FC236}">
                <a16:creationId xmlns:a16="http://schemas.microsoft.com/office/drawing/2014/main" id="{D9DB3E8B-1442-430D-8368-10E0154F4000}"/>
              </a:ext>
            </a:extLst>
          </p:cNvPr>
          <p:cNvSpPr txBox="1"/>
          <p:nvPr/>
        </p:nvSpPr>
        <p:spPr>
          <a:xfrm>
            <a:off x="4707466" y="-135466"/>
            <a:ext cx="3395134" cy="64633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hu-HU" sz="3600" b="1" dirty="0">
                <a:latin typeface="Bodoni MT" panose="02070603080606020203" pitchFamily="18" charset="0"/>
              </a:rPr>
              <a:t>Kosár oldal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B1C3EE7D-07AF-466F-BF05-B8DD64D55DBD}"/>
              </a:ext>
            </a:extLst>
          </p:cNvPr>
          <p:cNvSpPr txBox="1"/>
          <p:nvPr/>
        </p:nvSpPr>
        <p:spPr>
          <a:xfrm>
            <a:off x="2425699" y="3745300"/>
            <a:ext cx="7958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>
                <a:latin typeface="Bodoni MT" panose="02070603080606020203" pitchFamily="18" charset="0"/>
              </a:rPr>
              <a:t>Ez az oldal szolgál a kiválasztott termékek összegzésére a fizetés előtt. A cél az volt, hogy a vásárló pontosan lássa, mit tervez megvenni, és könnyen módosíthassa a tartalmát.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6AE078FC-1452-4D56-BEDF-D518DF8EB5DF}"/>
              </a:ext>
            </a:extLst>
          </p:cNvPr>
          <p:cNvSpPr txBox="1"/>
          <p:nvPr/>
        </p:nvSpPr>
        <p:spPr>
          <a:xfrm>
            <a:off x="3568700" y="4549676"/>
            <a:ext cx="45339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>
                <a:latin typeface="Bodoni MT" panose="02070603080606020203" pitchFamily="18" charset="0"/>
              </a:rPr>
              <a:t>Főbb funkciók, amiket itt megvalósítottunk: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400" b="1" dirty="0">
                <a:latin typeface="Bodoni MT" panose="02070603080606020203" pitchFamily="18" charset="0"/>
              </a:rPr>
              <a:t>Terméklista: Megjeleníti a kosárba tett parfümök képét, nevét és egységárát.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400" b="1" dirty="0">
                <a:latin typeface="Bodoni MT" panose="02070603080606020203" pitchFamily="18" charset="0"/>
              </a:rPr>
              <a:t>Mennyiségi áttekintés: Világosan látszik a darabszám és a végösszeg.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400" b="1" dirty="0">
                <a:latin typeface="Bodoni MT" panose="02070603080606020203" pitchFamily="18" charset="0"/>
              </a:rPr>
              <a:t>Elemek kezelése: A "Kivenni" gombbal a felhasználó azonnal eltávolíthatja a felesleges tételeket.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400" b="1" dirty="0">
                <a:latin typeface="Bodoni MT" panose="02070603080606020203" pitchFamily="18" charset="0"/>
              </a:rPr>
              <a:t>Irányítás: Külön gombok segítenek a vásárlás folytatásában (Vissza a főoldalra) vagy a fizetés megkezdésében (Tovább a fizetéshez).</a:t>
            </a:r>
          </a:p>
        </p:txBody>
      </p:sp>
    </p:spTree>
    <p:extLst>
      <p:ext uri="{BB962C8B-B14F-4D97-AF65-F5344CB8AC3E}">
        <p14:creationId xmlns:p14="http://schemas.microsoft.com/office/powerpoint/2010/main" val="20683077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A73FEDD9-D375-4F89-AFE2-91F027148C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533" y="44873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hu-HU"/>
          </a:p>
        </p:txBody>
      </p:sp>
      <p:cxnSp>
        <p:nvCxnSpPr>
          <p:cNvPr id="8" name="Egyenes összekötő 7">
            <a:extLst>
              <a:ext uri="{FF2B5EF4-FFF2-40B4-BE49-F238E27FC236}">
                <a16:creationId xmlns:a16="http://schemas.microsoft.com/office/drawing/2014/main" id="{9EFF13F1-4D8B-4C6C-B35F-660436627C1D}"/>
              </a:ext>
            </a:extLst>
          </p:cNvPr>
          <p:cNvCxnSpPr>
            <a:cxnSpLocks/>
          </p:cNvCxnSpPr>
          <p:nvPr/>
        </p:nvCxnSpPr>
        <p:spPr>
          <a:xfrm>
            <a:off x="3075598" y="3171778"/>
            <a:ext cx="6841401" cy="0"/>
          </a:xfrm>
          <a:prstGeom prst="line">
            <a:avLst/>
          </a:prstGeom>
          <a:ln w="133350"/>
          <a:effectLst>
            <a:outerShdw blurRad="50800" dist="38100" dir="18900000" algn="bl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Egyenes összekötő 11">
            <a:extLst>
              <a:ext uri="{FF2B5EF4-FFF2-40B4-BE49-F238E27FC236}">
                <a16:creationId xmlns:a16="http://schemas.microsoft.com/office/drawing/2014/main" id="{164E48CF-E4BA-4218-A585-D5C4468BD1FC}"/>
              </a:ext>
            </a:extLst>
          </p:cNvPr>
          <p:cNvCxnSpPr>
            <a:cxnSpLocks/>
          </p:cNvCxnSpPr>
          <p:nvPr/>
        </p:nvCxnSpPr>
        <p:spPr>
          <a:xfrm>
            <a:off x="3075598" y="2877874"/>
            <a:ext cx="0" cy="551126"/>
          </a:xfrm>
          <a:prstGeom prst="line">
            <a:avLst/>
          </a:prstGeom>
          <a:ln w="95250"/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Egyenes összekötő 13">
            <a:extLst>
              <a:ext uri="{FF2B5EF4-FFF2-40B4-BE49-F238E27FC236}">
                <a16:creationId xmlns:a16="http://schemas.microsoft.com/office/drawing/2014/main" id="{91CA3DA5-CB02-4A75-8FA7-E0BCAD3EAEB1}"/>
              </a:ext>
            </a:extLst>
          </p:cNvPr>
          <p:cNvCxnSpPr>
            <a:cxnSpLocks/>
          </p:cNvCxnSpPr>
          <p:nvPr/>
        </p:nvCxnSpPr>
        <p:spPr>
          <a:xfrm>
            <a:off x="9916999" y="2877874"/>
            <a:ext cx="0" cy="551126"/>
          </a:xfrm>
          <a:prstGeom prst="line">
            <a:avLst/>
          </a:prstGeom>
          <a:ln w="95250"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AE4F0EF0-DEEE-4826-AFC6-1CB96960D0E1}"/>
              </a:ext>
            </a:extLst>
          </p:cNvPr>
          <p:cNvSpPr txBox="1"/>
          <p:nvPr/>
        </p:nvSpPr>
        <p:spPr>
          <a:xfrm>
            <a:off x="3979334" y="220134"/>
            <a:ext cx="3979333" cy="64633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hu-HU" sz="3600" b="1" dirty="0">
                <a:latin typeface="Bodoni MT" panose="02070603080606020203" pitchFamily="18" charset="0"/>
              </a:rPr>
              <a:t>A projekt idővonala</a:t>
            </a:r>
          </a:p>
        </p:txBody>
      </p:sp>
      <p:pic>
        <p:nvPicPr>
          <p:cNvPr id="17" name="Kép 16">
            <a:extLst>
              <a:ext uri="{FF2B5EF4-FFF2-40B4-BE49-F238E27FC236}">
                <a16:creationId xmlns:a16="http://schemas.microsoft.com/office/drawing/2014/main" id="{656EA6C1-8181-4A53-BD46-9F06814510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50222" y1="28444" x2="50222" y2="284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7689" y="5235600"/>
            <a:ext cx="936096" cy="936096"/>
          </a:xfrm>
          <a:prstGeom prst="rect">
            <a:avLst/>
          </a:prstGeom>
        </p:spPr>
      </p:pic>
      <p:sp>
        <p:nvSpPr>
          <p:cNvPr id="5" name="Beszédbuborék: lekerekített sarkú téglalap 4">
            <a:extLst>
              <a:ext uri="{FF2B5EF4-FFF2-40B4-BE49-F238E27FC236}">
                <a16:creationId xmlns:a16="http://schemas.microsoft.com/office/drawing/2014/main" id="{1B7F805D-2D72-4C26-A42C-969AB56C8070}"/>
              </a:ext>
            </a:extLst>
          </p:cNvPr>
          <p:cNvSpPr/>
          <p:nvPr/>
        </p:nvSpPr>
        <p:spPr>
          <a:xfrm>
            <a:off x="3038678" y="1667481"/>
            <a:ext cx="1600201" cy="695964"/>
          </a:xfrm>
          <a:prstGeom prst="wedgeRoundRectCallou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/>
              <a:t>Ötletelés a projekt témájáról</a:t>
            </a:r>
          </a:p>
        </p:txBody>
      </p:sp>
      <p:sp>
        <p:nvSpPr>
          <p:cNvPr id="9" name="Kivonás jele 8">
            <a:extLst>
              <a:ext uri="{FF2B5EF4-FFF2-40B4-BE49-F238E27FC236}">
                <a16:creationId xmlns:a16="http://schemas.microsoft.com/office/drawing/2014/main" id="{4760851C-49AD-4FC8-98BB-B30B54BC5BD8}"/>
              </a:ext>
            </a:extLst>
          </p:cNvPr>
          <p:cNvSpPr/>
          <p:nvPr/>
        </p:nvSpPr>
        <p:spPr>
          <a:xfrm rot="5400000">
            <a:off x="3201165" y="2947174"/>
            <a:ext cx="551128" cy="412529"/>
          </a:xfrm>
          <a:prstGeom prst="mathMinu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C0E943EC-0D54-42E5-8F1D-1BA5CF0CDAF7}"/>
              </a:ext>
            </a:extLst>
          </p:cNvPr>
          <p:cNvSpPr txBox="1"/>
          <p:nvPr/>
        </p:nvSpPr>
        <p:spPr>
          <a:xfrm>
            <a:off x="3075598" y="2538604"/>
            <a:ext cx="112073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100" b="1" dirty="0">
                <a:latin typeface="Bodoni MT" panose="02070603080606020203" pitchFamily="18" charset="0"/>
              </a:rPr>
              <a:t>Szept. 1 –</a:t>
            </a:r>
          </a:p>
          <a:p>
            <a:r>
              <a:rPr lang="hu-HU" sz="1100" b="1" dirty="0">
                <a:latin typeface="Bodoni MT" panose="02070603080606020203" pitchFamily="18" charset="0"/>
              </a:rPr>
              <a:t> 30</a:t>
            </a:r>
          </a:p>
        </p:txBody>
      </p:sp>
      <p:sp>
        <p:nvSpPr>
          <p:cNvPr id="16" name="Kivonás jele 15">
            <a:extLst>
              <a:ext uri="{FF2B5EF4-FFF2-40B4-BE49-F238E27FC236}">
                <a16:creationId xmlns:a16="http://schemas.microsoft.com/office/drawing/2014/main" id="{FBB8F86F-B331-47AF-A396-B4717E5506AA}"/>
              </a:ext>
            </a:extLst>
          </p:cNvPr>
          <p:cNvSpPr/>
          <p:nvPr/>
        </p:nvSpPr>
        <p:spPr>
          <a:xfrm rot="5400000">
            <a:off x="3808559" y="2940490"/>
            <a:ext cx="551128" cy="412529"/>
          </a:xfrm>
          <a:prstGeom prst="mathMinu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" name="Beszédbuborék: lekerekített sarkú téglalap 18">
            <a:extLst>
              <a:ext uri="{FF2B5EF4-FFF2-40B4-BE49-F238E27FC236}">
                <a16:creationId xmlns:a16="http://schemas.microsoft.com/office/drawing/2014/main" id="{DCA34596-0AD6-4681-8C15-CE2CA768348B}"/>
              </a:ext>
            </a:extLst>
          </p:cNvPr>
          <p:cNvSpPr/>
          <p:nvPr/>
        </p:nvSpPr>
        <p:spPr>
          <a:xfrm rot="10800000">
            <a:off x="2941167" y="3857152"/>
            <a:ext cx="1651025" cy="695953"/>
          </a:xfrm>
          <a:prstGeom prst="wedgeRoundRectCallou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0" name="Szövegdoboz 19">
            <a:extLst>
              <a:ext uri="{FF2B5EF4-FFF2-40B4-BE49-F238E27FC236}">
                <a16:creationId xmlns:a16="http://schemas.microsoft.com/office/drawing/2014/main" id="{FB57ACB5-5E4B-4E72-ACD3-368AF3A8F405}"/>
              </a:ext>
            </a:extLst>
          </p:cNvPr>
          <p:cNvSpPr txBox="1"/>
          <p:nvPr/>
        </p:nvSpPr>
        <p:spPr>
          <a:xfrm>
            <a:off x="3228131" y="4046413"/>
            <a:ext cx="14286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>
                <a:solidFill>
                  <a:schemeClr val="bg1">
                    <a:lumMod val="95000"/>
                  </a:schemeClr>
                </a:solidFill>
              </a:rPr>
              <a:t>Első lépések</a:t>
            </a:r>
          </a:p>
        </p:txBody>
      </p:sp>
      <p:sp>
        <p:nvSpPr>
          <p:cNvPr id="22" name="Szövegdoboz 21">
            <a:extLst>
              <a:ext uri="{FF2B5EF4-FFF2-40B4-BE49-F238E27FC236}">
                <a16:creationId xmlns:a16="http://schemas.microsoft.com/office/drawing/2014/main" id="{42021876-F1C7-4D8B-8C44-82CA387729B9}"/>
              </a:ext>
            </a:extLst>
          </p:cNvPr>
          <p:cNvSpPr txBox="1"/>
          <p:nvPr/>
        </p:nvSpPr>
        <p:spPr>
          <a:xfrm>
            <a:off x="3635965" y="3522097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100" b="1" dirty="0">
                <a:latin typeface="Bodoni MT" panose="02070603080606020203" pitchFamily="18" charset="0"/>
              </a:rPr>
              <a:t>Okt. 1 –14</a:t>
            </a:r>
          </a:p>
        </p:txBody>
      </p:sp>
      <p:sp>
        <p:nvSpPr>
          <p:cNvPr id="24" name="Kivonás jele 23">
            <a:extLst>
              <a:ext uri="{FF2B5EF4-FFF2-40B4-BE49-F238E27FC236}">
                <a16:creationId xmlns:a16="http://schemas.microsoft.com/office/drawing/2014/main" id="{F5827436-3BC0-4E99-AB0E-7F7A7AD68A58}"/>
              </a:ext>
            </a:extLst>
          </p:cNvPr>
          <p:cNvSpPr/>
          <p:nvPr/>
        </p:nvSpPr>
        <p:spPr>
          <a:xfrm rot="5400000">
            <a:off x="4817082" y="2940491"/>
            <a:ext cx="551128" cy="412529"/>
          </a:xfrm>
          <a:prstGeom prst="mathMinu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" name="Beszédbuborék: lekerekített sarkú téglalap 24">
            <a:extLst>
              <a:ext uri="{FF2B5EF4-FFF2-40B4-BE49-F238E27FC236}">
                <a16:creationId xmlns:a16="http://schemas.microsoft.com/office/drawing/2014/main" id="{021DB496-46EB-4218-9E80-60225E94F8B3}"/>
              </a:ext>
            </a:extLst>
          </p:cNvPr>
          <p:cNvSpPr/>
          <p:nvPr/>
        </p:nvSpPr>
        <p:spPr>
          <a:xfrm>
            <a:off x="4684471" y="1652086"/>
            <a:ext cx="1600201" cy="695964"/>
          </a:xfrm>
          <a:prstGeom prst="wedgeRoundRectCallou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/>
              <a:t>Első prototípus, később backend</a:t>
            </a:r>
            <a:endParaRPr lang="hu-HU" sz="1400" dirty="0"/>
          </a:p>
        </p:txBody>
      </p:sp>
      <p:sp>
        <p:nvSpPr>
          <p:cNvPr id="27" name="Szövegdoboz 26">
            <a:extLst>
              <a:ext uri="{FF2B5EF4-FFF2-40B4-BE49-F238E27FC236}">
                <a16:creationId xmlns:a16="http://schemas.microsoft.com/office/drawing/2014/main" id="{EA8B3AE5-9B20-4189-A0D4-2C5C0E96D512}"/>
              </a:ext>
            </a:extLst>
          </p:cNvPr>
          <p:cNvSpPr txBox="1"/>
          <p:nvPr/>
        </p:nvSpPr>
        <p:spPr>
          <a:xfrm>
            <a:off x="4886381" y="2486405"/>
            <a:ext cx="71130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100" b="1" dirty="0">
                <a:latin typeface="Bodoni MT" panose="02070603080606020203" pitchFamily="18" charset="0"/>
              </a:rPr>
              <a:t>Okt. 15 –</a:t>
            </a:r>
          </a:p>
          <a:p>
            <a:r>
              <a:rPr lang="hu-HU" sz="1100" b="1" dirty="0">
                <a:latin typeface="Bodoni MT" panose="02070603080606020203" pitchFamily="18" charset="0"/>
              </a:rPr>
              <a:t> Nov. 11</a:t>
            </a:r>
          </a:p>
        </p:txBody>
      </p:sp>
      <p:sp>
        <p:nvSpPr>
          <p:cNvPr id="18" name="Kivonás jele 17">
            <a:extLst>
              <a:ext uri="{FF2B5EF4-FFF2-40B4-BE49-F238E27FC236}">
                <a16:creationId xmlns:a16="http://schemas.microsoft.com/office/drawing/2014/main" id="{47E16B74-8C55-48EA-A336-377F82838FF4}"/>
              </a:ext>
            </a:extLst>
          </p:cNvPr>
          <p:cNvSpPr/>
          <p:nvPr/>
        </p:nvSpPr>
        <p:spPr>
          <a:xfrm rot="5400000">
            <a:off x="5614171" y="2966824"/>
            <a:ext cx="551128" cy="412529"/>
          </a:xfrm>
          <a:prstGeom prst="mathMinu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" name="Beszédbuborék: lekerekített sarkú téglalap 20">
            <a:extLst>
              <a:ext uri="{FF2B5EF4-FFF2-40B4-BE49-F238E27FC236}">
                <a16:creationId xmlns:a16="http://schemas.microsoft.com/office/drawing/2014/main" id="{0CE2FC55-BD3E-4862-BFA0-86425FA880D7}"/>
              </a:ext>
            </a:extLst>
          </p:cNvPr>
          <p:cNvSpPr/>
          <p:nvPr/>
        </p:nvSpPr>
        <p:spPr>
          <a:xfrm rot="10800000">
            <a:off x="4772176" y="3882676"/>
            <a:ext cx="1651025" cy="695953"/>
          </a:xfrm>
          <a:prstGeom prst="wedgeRoundRectCallou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36E56812-6154-467C-886F-C28B4DC4ACD3}"/>
              </a:ext>
            </a:extLst>
          </p:cNvPr>
          <p:cNvSpPr txBox="1"/>
          <p:nvPr/>
        </p:nvSpPr>
        <p:spPr>
          <a:xfrm>
            <a:off x="5009970" y="3969043"/>
            <a:ext cx="12747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>
                <a:solidFill>
                  <a:schemeClr val="bg1"/>
                </a:solidFill>
              </a:rPr>
              <a:t>Bejelentkezés és Regisztráció</a:t>
            </a:r>
          </a:p>
        </p:txBody>
      </p:sp>
      <p:sp>
        <p:nvSpPr>
          <p:cNvPr id="23" name="Szövegdoboz 22">
            <a:extLst>
              <a:ext uri="{FF2B5EF4-FFF2-40B4-BE49-F238E27FC236}">
                <a16:creationId xmlns:a16="http://schemas.microsoft.com/office/drawing/2014/main" id="{82382535-8C11-42D2-9ECF-AE701535519C}"/>
              </a:ext>
            </a:extLst>
          </p:cNvPr>
          <p:cNvSpPr txBox="1"/>
          <p:nvPr/>
        </p:nvSpPr>
        <p:spPr>
          <a:xfrm>
            <a:off x="5375564" y="3451789"/>
            <a:ext cx="112073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100" b="1" dirty="0">
                <a:latin typeface="Bodoni MT" panose="02070603080606020203" pitchFamily="18" charset="0"/>
              </a:rPr>
              <a:t>Nov. 12 –</a:t>
            </a:r>
          </a:p>
          <a:p>
            <a:r>
              <a:rPr lang="hu-HU" sz="1100" b="1" dirty="0">
                <a:latin typeface="Bodoni MT" panose="02070603080606020203" pitchFamily="18" charset="0"/>
              </a:rPr>
              <a:t>Dec. 7</a:t>
            </a:r>
          </a:p>
        </p:txBody>
      </p:sp>
      <p:sp>
        <p:nvSpPr>
          <p:cNvPr id="26" name="Kivonás jele 25">
            <a:extLst>
              <a:ext uri="{FF2B5EF4-FFF2-40B4-BE49-F238E27FC236}">
                <a16:creationId xmlns:a16="http://schemas.microsoft.com/office/drawing/2014/main" id="{C96EEFFA-98ED-425B-8E70-93DE06F8B237}"/>
              </a:ext>
            </a:extLst>
          </p:cNvPr>
          <p:cNvSpPr/>
          <p:nvPr/>
        </p:nvSpPr>
        <p:spPr>
          <a:xfrm rot="5400000">
            <a:off x="6499682" y="2967451"/>
            <a:ext cx="551128" cy="412529"/>
          </a:xfrm>
          <a:prstGeom prst="mathMinu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8" name="Beszédbuborék: lekerekített sarkú téglalap 27">
            <a:extLst>
              <a:ext uri="{FF2B5EF4-FFF2-40B4-BE49-F238E27FC236}">
                <a16:creationId xmlns:a16="http://schemas.microsoft.com/office/drawing/2014/main" id="{EB1A4D11-1BB7-432E-824A-8B44373294CA}"/>
              </a:ext>
            </a:extLst>
          </p:cNvPr>
          <p:cNvSpPr/>
          <p:nvPr/>
        </p:nvSpPr>
        <p:spPr>
          <a:xfrm>
            <a:off x="6330264" y="1652086"/>
            <a:ext cx="1600201" cy="695964"/>
          </a:xfrm>
          <a:prstGeom prst="wedgeRoundRectCallou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/>
              <a:t>A kedvenc és kosár oldal</a:t>
            </a:r>
          </a:p>
        </p:txBody>
      </p:sp>
      <p:sp>
        <p:nvSpPr>
          <p:cNvPr id="29" name="Szövegdoboz 28">
            <a:extLst>
              <a:ext uri="{FF2B5EF4-FFF2-40B4-BE49-F238E27FC236}">
                <a16:creationId xmlns:a16="http://schemas.microsoft.com/office/drawing/2014/main" id="{28DEF49B-6FAA-48C9-B8DD-E1B9B9482519}"/>
              </a:ext>
            </a:extLst>
          </p:cNvPr>
          <p:cNvSpPr txBox="1"/>
          <p:nvPr/>
        </p:nvSpPr>
        <p:spPr>
          <a:xfrm>
            <a:off x="6423201" y="2580707"/>
            <a:ext cx="100610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100" b="1" dirty="0">
                <a:latin typeface="Bodoni MT" panose="02070603080606020203" pitchFamily="18" charset="0"/>
              </a:rPr>
              <a:t>Dec. 7 –</a:t>
            </a:r>
          </a:p>
          <a:p>
            <a:r>
              <a:rPr lang="hu-HU" sz="1100" b="1" dirty="0">
                <a:latin typeface="Bodoni MT" panose="02070603080606020203" pitchFamily="18" charset="0"/>
              </a:rPr>
              <a:t>Jan. 12</a:t>
            </a:r>
          </a:p>
        </p:txBody>
      </p:sp>
      <p:sp>
        <p:nvSpPr>
          <p:cNvPr id="30" name="Kivonás jele 29">
            <a:extLst>
              <a:ext uri="{FF2B5EF4-FFF2-40B4-BE49-F238E27FC236}">
                <a16:creationId xmlns:a16="http://schemas.microsoft.com/office/drawing/2014/main" id="{8FCB87F0-275D-4F21-9D3D-D217D6265AAE}"/>
              </a:ext>
            </a:extLst>
          </p:cNvPr>
          <p:cNvSpPr/>
          <p:nvPr/>
        </p:nvSpPr>
        <p:spPr>
          <a:xfrm rot="5400000">
            <a:off x="7385192" y="2966824"/>
            <a:ext cx="551128" cy="412529"/>
          </a:xfrm>
          <a:prstGeom prst="mathMinu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1" name="Beszédbuborék: lekerekített sarkú téglalap 30">
            <a:extLst>
              <a:ext uri="{FF2B5EF4-FFF2-40B4-BE49-F238E27FC236}">
                <a16:creationId xmlns:a16="http://schemas.microsoft.com/office/drawing/2014/main" id="{3E640B70-27A8-477D-840A-B39B9B6F9BC4}"/>
              </a:ext>
            </a:extLst>
          </p:cNvPr>
          <p:cNvSpPr/>
          <p:nvPr/>
        </p:nvSpPr>
        <p:spPr>
          <a:xfrm rot="10800000">
            <a:off x="6522467" y="3882676"/>
            <a:ext cx="1651025" cy="695953"/>
          </a:xfrm>
          <a:prstGeom prst="wedgeRoundRectCallou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D723F839-F19B-451B-B7E2-6CA51B670286}"/>
              </a:ext>
            </a:extLst>
          </p:cNvPr>
          <p:cNvSpPr txBox="1"/>
          <p:nvPr/>
        </p:nvSpPr>
        <p:spPr>
          <a:xfrm>
            <a:off x="6683965" y="3914699"/>
            <a:ext cx="175737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>
                <a:solidFill>
                  <a:schemeClr val="bg1"/>
                </a:solidFill>
              </a:rPr>
              <a:t>Fizetési oldal, </a:t>
            </a:r>
            <a:r>
              <a:rPr lang="hu-HU" sz="1400" dirty="0" err="1">
                <a:solidFill>
                  <a:schemeClr val="bg1"/>
                </a:solidFill>
              </a:rPr>
              <a:t>reszponzivitás</a:t>
            </a:r>
            <a:r>
              <a:rPr lang="hu-HU" sz="1400" dirty="0">
                <a:solidFill>
                  <a:schemeClr val="bg1"/>
                </a:solidFill>
              </a:rPr>
              <a:t> elkezdése</a:t>
            </a:r>
          </a:p>
        </p:txBody>
      </p:sp>
      <p:sp>
        <p:nvSpPr>
          <p:cNvPr id="32" name="Szövegdoboz 31">
            <a:extLst>
              <a:ext uri="{FF2B5EF4-FFF2-40B4-BE49-F238E27FC236}">
                <a16:creationId xmlns:a16="http://schemas.microsoft.com/office/drawing/2014/main" id="{3CB06C9F-71A7-4F07-8FFF-923D64B2F5C7}"/>
              </a:ext>
            </a:extLst>
          </p:cNvPr>
          <p:cNvSpPr txBox="1"/>
          <p:nvPr/>
        </p:nvSpPr>
        <p:spPr>
          <a:xfrm>
            <a:off x="7291768" y="3393393"/>
            <a:ext cx="165102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100" b="1" dirty="0">
                <a:latin typeface="Bodoni MT" panose="02070603080606020203" pitchFamily="18" charset="0"/>
              </a:rPr>
              <a:t>Jan. 13 –</a:t>
            </a:r>
          </a:p>
          <a:p>
            <a:r>
              <a:rPr lang="hu-HU" sz="1100" b="1" dirty="0">
                <a:latin typeface="Bodoni MT" panose="02070603080606020203" pitchFamily="18" charset="0"/>
              </a:rPr>
              <a:t>Febr. 28</a:t>
            </a:r>
          </a:p>
        </p:txBody>
      </p:sp>
    </p:spTree>
    <p:extLst>
      <p:ext uri="{BB962C8B-B14F-4D97-AF65-F5344CB8AC3E}">
        <p14:creationId xmlns:p14="http://schemas.microsoft.com/office/powerpoint/2010/main" val="24263946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891C7BA0-F135-485B-865A-C9C601532D09}"/>
              </a:ext>
            </a:extLst>
          </p:cNvPr>
          <p:cNvSpPr txBox="1"/>
          <p:nvPr/>
        </p:nvSpPr>
        <p:spPr>
          <a:xfrm>
            <a:off x="5020733" y="76200"/>
            <a:ext cx="3776133" cy="64633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hu-HU" sz="3600" b="1" dirty="0">
                <a:latin typeface="Bodoni MT" panose="02070603080606020203" pitchFamily="18" charset="0"/>
              </a:rPr>
              <a:t>Fizetés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9836DAE9-ED7C-4DFF-8B14-A7E25618B2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9822" y="939800"/>
            <a:ext cx="7330322" cy="3441699"/>
          </a:xfrm>
          <a:prstGeom prst="rect">
            <a:avLst/>
          </a:prstGeom>
        </p:spPr>
      </p:pic>
      <p:sp>
        <p:nvSpPr>
          <p:cNvPr id="3" name="Szövegdoboz 2">
            <a:extLst>
              <a:ext uri="{FF2B5EF4-FFF2-40B4-BE49-F238E27FC236}">
                <a16:creationId xmlns:a16="http://schemas.microsoft.com/office/drawing/2014/main" id="{81E35DFF-54B5-4BDF-B5AA-9A60708347E8}"/>
              </a:ext>
            </a:extLst>
          </p:cNvPr>
          <p:cNvSpPr txBox="1"/>
          <p:nvPr/>
        </p:nvSpPr>
        <p:spPr>
          <a:xfrm>
            <a:off x="3217332" y="4555066"/>
            <a:ext cx="628441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>
                <a:latin typeface="Bodoni MT" panose="02070603080606020203" pitchFamily="18" charset="0"/>
              </a:rPr>
              <a:t>A webshopunk bankkártyás fizetési rendszere a </a:t>
            </a:r>
            <a:r>
              <a:rPr lang="hu-HU" b="1" dirty="0" err="1">
                <a:latin typeface="Bodoni MT" panose="02070603080606020203" pitchFamily="18" charset="0"/>
              </a:rPr>
              <a:t>Stripe</a:t>
            </a:r>
            <a:r>
              <a:rPr lang="hu-HU" b="1" dirty="0">
                <a:latin typeface="Bodoni MT" panose="02070603080606020203" pitchFamily="18" charset="0"/>
              </a:rPr>
              <a:t> API-</a:t>
            </a:r>
            <a:r>
              <a:rPr lang="hu-HU" b="1" dirty="0" err="1">
                <a:latin typeface="Bodoni MT" panose="02070603080606020203" pitchFamily="18" charset="0"/>
              </a:rPr>
              <a:t>ra</a:t>
            </a:r>
            <a:r>
              <a:rPr lang="hu-HU" b="1" dirty="0">
                <a:latin typeface="Bodoni MT" panose="02070603080606020203" pitchFamily="18" charset="0"/>
              </a:rPr>
              <a:t> épül. Ez a megoldás lehetővé teszi a zökkenőmentes fizetési élményt anélkül, hogy a vásárló adatai illetéktelen kezekbe kerülnének. A fizetés véglegesítése közvetlenül a </a:t>
            </a:r>
            <a:r>
              <a:rPr lang="hu-HU" b="1" dirty="0" err="1">
                <a:latin typeface="Bodoni MT" panose="02070603080606020203" pitchFamily="18" charset="0"/>
              </a:rPr>
              <a:t>Stripe</a:t>
            </a:r>
            <a:r>
              <a:rPr lang="hu-HU" b="1" dirty="0">
                <a:latin typeface="Bodoni MT" panose="02070603080606020203" pitchFamily="18" charset="0"/>
              </a:rPr>
              <a:t> biztonságos szerverein keresztül történik.</a:t>
            </a:r>
          </a:p>
        </p:txBody>
      </p:sp>
      <p:sp>
        <p:nvSpPr>
          <p:cNvPr id="5" name="Nyíl: jobbra mutató 4">
            <a:extLst>
              <a:ext uri="{FF2B5EF4-FFF2-40B4-BE49-F238E27FC236}">
                <a16:creationId xmlns:a16="http://schemas.microsoft.com/office/drawing/2014/main" id="{0D32515C-6504-4281-8A72-BF0A13F96C27}"/>
              </a:ext>
            </a:extLst>
          </p:cNvPr>
          <p:cNvSpPr/>
          <p:nvPr/>
        </p:nvSpPr>
        <p:spPr>
          <a:xfrm rot="468325">
            <a:off x="3911600" y="1701800"/>
            <a:ext cx="677333" cy="287866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314F6EF9-5664-46DE-B295-A1C9B2A9A898}"/>
              </a:ext>
            </a:extLst>
          </p:cNvPr>
          <p:cNvSpPr txBox="1"/>
          <p:nvPr/>
        </p:nvSpPr>
        <p:spPr>
          <a:xfrm>
            <a:off x="1557865" y="1312332"/>
            <a:ext cx="269240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b="1" dirty="0">
                <a:latin typeface="Bodoni MT" panose="02070603080606020203" pitchFamily="18" charset="0"/>
              </a:rPr>
              <a:t>A fizetési felületen a vásárló utoljára ellenőrizheti a kosár tartalmát és a végösszeget. Az átláthatóság jegyében minden tétel, a szállítási költség jól láthatóan megjelennek, mielőtt a tranzakció véglegesítésre kerülne.</a:t>
            </a:r>
          </a:p>
        </p:txBody>
      </p:sp>
    </p:spTree>
    <p:extLst>
      <p:ext uri="{BB962C8B-B14F-4D97-AF65-F5344CB8AC3E}">
        <p14:creationId xmlns:p14="http://schemas.microsoft.com/office/powerpoint/2010/main" val="32192098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 animBg="1"/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3E07C939-5721-4ED5-8820-4AA94D880CCE}"/>
              </a:ext>
            </a:extLst>
          </p:cNvPr>
          <p:cNvSpPr txBox="1"/>
          <p:nvPr/>
        </p:nvSpPr>
        <p:spPr>
          <a:xfrm>
            <a:off x="4737100" y="-67376"/>
            <a:ext cx="6680200" cy="64633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r>
              <a:rPr lang="hu-HU" sz="3600" b="1" dirty="0">
                <a:latin typeface="Bodoni MT" panose="02070603080606020203" pitchFamily="18" charset="0"/>
              </a:rPr>
              <a:t>Sikeres fizetés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929F9F7F-31C1-4388-A67E-E340EC3814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5599" y="1134533"/>
            <a:ext cx="7618573" cy="3522134"/>
          </a:xfrm>
          <a:prstGeom prst="rect">
            <a:avLst/>
          </a:prstGeom>
        </p:spPr>
      </p:pic>
      <p:sp>
        <p:nvSpPr>
          <p:cNvPr id="3" name="Szövegdoboz 2">
            <a:extLst>
              <a:ext uri="{FF2B5EF4-FFF2-40B4-BE49-F238E27FC236}">
                <a16:creationId xmlns:a16="http://schemas.microsoft.com/office/drawing/2014/main" id="{A637A2AC-5469-48E7-9F93-D2813974C4D4}"/>
              </a:ext>
            </a:extLst>
          </p:cNvPr>
          <p:cNvSpPr txBox="1"/>
          <p:nvPr/>
        </p:nvSpPr>
        <p:spPr>
          <a:xfrm>
            <a:off x="3606800" y="4953000"/>
            <a:ext cx="53001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>
                <a:latin typeface="Bodoni MT" panose="02070603080606020203" pitchFamily="18" charset="0"/>
              </a:rPr>
              <a:t>Ha a fizetés sikeres a </a:t>
            </a:r>
            <a:r>
              <a:rPr lang="hu-HU" b="1" dirty="0" err="1">
                <a:latin typeface="Bodoni MT" panose="02070603080606020203" pitchFamily="18" charset="0"/>
              </a:rPr>
              <a:t>Stripe</a:t>
            </a:r>
            <a:r>
              <a:rPr lang="hu-HU" b="1" dirty="0">
                <a:latin typeface="Bodoni MT" panose="02070603080606020203" pitchFamily="18" charset="0"/>
              </a:rPr>
              <a:t> oldalon akkor az oldal átirányítja a vásárlót a sikeres rendelés weboldalra.</a:t>
            </a:r>
          </a:p>
        </p:txBody>
      </p:sp>
    </p:spTree>
    <p:extLst>
      <p:ext uri="{BB962C8B-B14F-4D97-AF65-F5344CB8AC3E}">
        <p14:creationId xmlns:p14="http://schemas.microsoft.com/office/powerpoint/2010/main" val="11423857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ép 1">
            <a:extLst>
              <a:ext uri="{FF2B5EF4-FFF2-40B4-BE49-F238E27FC236}">
                <a16:creationId xmlns:a16="http://schemas.microsoft.com/office/drawing/2014/main" id="{9055649F-423E-4F73-82A2-14A7F35630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4233" y="1163668"/>
            <a:ext cx="7668469" cy="3634117"/>
          </a:xfrm>
          <a:prstGeom prst="rect">
            <a:avLst/>
          </a:prstGeom>
        </p:spPr>
      </p:pic>
      <p:sp>
        <p:nvSpPr>
          <p:cNvPr id="3" name="Szövegdoboz 2">
            <a:extLst>
              <a:ext uri="{FF2B5EF4-FFF2-40B4-BE49-F238E27FC236}">
                <a16:creationId xmlns:a16="http://schemas.microsoft.com/office/drawing/2014/main" id="{012BA5C4-8500-4873-847B-727A53103538}"/>
              </a:ext>
            </a:extLst>
          </p:cNvPr>
          <p:cNvSpPr txBox="1"/>
          <p:nvPr/>
        </p:nvSpPr>
        <p:spPr>
          <a:xfrm>
            <a:off x="4348770" y="0"/>
            <a:ext cx="3708401" cy="64633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hu-HU" sz="3600" b="1" dirty="0">
                <a:latin typeface="Bodoni MT" panose="02070603080606020203" pitchFamily="18" charset="0"/>
              </a:rPr>
              <a:t>Sikertelen fizetés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CBCAB50D-8306-4F45-9B19-456DAA1444E5}"/>
              </a:ext>
            </a:extLst>
          </p:cNvPr>
          <p:cNvSpPr txBox="1"/>
          <p:nvPr/>
        </p:nvSpPr>
        <p:spPr>
          <a:xfrm>
            <a:off x="3845003" y="4929951"/>
            <a:ext cx="47159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>
                <a:latin typeface="Bodoni MT" panose="02070603080606020203" pitchFamily="18" charset="0"/>
              </a:rPr>
              <a:t>Viszont ha a vásárló visszalép a fizetés oldalról vagy a fizetését elutasítja a STRIPE, akkor a sikertelen fizetés oldalra irányítja át a STRIPE.</a:t>
            </a:r>
          </a:p>
        </p:txBody>
      </p:sp>
    </p:spTree>
    <p:extLst>
      <p:ext uri="{BB962C8B-B14F-4D97-AF65-F5344CB8AC3E}">
        <p14:creationId xmlns:p14="http://schemas.microsoft.com/office/powerpoint/2010/main" val="17644262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A73FEDD9-D375-4F89-AFE2-91F027148C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533" y="44873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hu-HU"/>
          </a:p>
        </p:txBody>
      </p:sp>
      <p:cxnSp>
        <p:nvCxnSpPr>
          <p:cNvPr id="8" name="Egyenes összekötő 7">
            <a:extLst>
              <a:ext uri="{FF2B5EF4-FFF2-40B4-BE49-F238E27FC236}">
                <a16:creationId xmlns:a16="http://schemas.microsoft.com/office/drawing/2014/main" id="{9EFF13F1-4D8B-4C6C-B35F-660436627C1D}"/>
              </a:ext>
            </a:extLst>
          </p:cNvPr>
          <p:cNvCxnSpPr>
            <a:cxnSpLocks/>
          </p:cNvCxnSpPr>
          <p:nvPr/>
        </p:nvCxnSpPr>
        <p:spPr>
          <a:xfrm>
            <a:off x="3075598" y="3171778"/>
            <a:ext cx="6841401" cy="0"/>
          </a:xfrm>
          <a:prstGeom prst="line">
            <a:avLst/>
          </a:prstGeom>
          <a:ln w="133350"/>
          <a:effectLst>
            <a:outerShdw blurRad="50800" dist="38100" dir="18900000" algn="bl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Egyenes összekötő 11">
            <a:extLst>
              <a:ext uri="{FF2B5EF4-FFF2-40B4-BE49-F238E27FC236}">
                <a16:creationId xmlns:a16="http://schemas.microsoft.com/office/drawing/2014/main" id="{164E48CF-E4BA-4218-A585-D5C4468BD1FC}"/>
              </a:ext>
            </a:extLst>
          </p:cNvPr>
          <p:cNvCxnSpPr>
            <a:cxnSpLocks/>
          </p:cNvCxnSpPr>
          <p:nvPr/>
        </p:nvCxnSpPr>
        <p:spPr>
          <a:xfrm>
            <a:off x="3075598" y="2877874"/>
            <a:ext cx="0" cy="551126"/>
          </a:xfrm>
          <a:prstGeom prst="line">
            <a:avLst/>
          </a:prstGeom>
          <a:ln w="95250"/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Egyenes összekötő 13">
            <a:extLst>
              <a:ext uri="{FF2B5EF4-FFF2-40B4-BE49-F238E27FC236}">
                <a16:creationId xmlns:a16="http://schemas.microsoft.com/office/drawing/2014/main" id="{91CA3DA5-CB02-4A75-8FA7-E0BCAD3EAEB1}"/>
              </a:ext>
            </a:extLst>
          </p:cNvPr>
          <p:cNvCxnSpPr>
            <a:cxnSpLocks/>
          </p:cNvCxnSpPr>
          <p:nvPr/>
        </p:nvCxnSpPr>
        <p:spPr>
          <a:xfrm>
            <a:off x="9916999" y="2877874"/>
            <a:ext cx="0" cy="551126"/>
          </a:xfrm>
          <a:prstGeom prst="line">
            <a:avLst/>
          </a:prstGeom>
          <a:ln w="95250"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AE4F0EF0-DEEE-4826-AFC6-1CB96960D0E1}"/>
              </a:ext>
            </a:extLst>
          </p:cNvPr>
          <p:cNvSpPr txBox="1"/>
          <p:nvPr/>
        </p:nvSpPr>
        <p:spPr>
          <a:xfrm>
            <a:off x="3979334" y="220134"/>
            <a:ext cx="3979333" cy="64633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hu-HU" sz="3600" b="1" dirty="0">
                <a:latin typeface="Bodoni MT" panose="02070603080606020203" pitchFamily="18" charset="0"/>
              </a:rPr>
              <a:t>A projekt idővonala</a:t>
            </a:r>
          </a:p>
        </p:txBody>
      </p:sp>
      <p:pic>
        <p:nvPicPr>
          <p:cNvPr id="17" name="Kép 16">
            <a:extLst>
              <a:ext uri="{FF2B5EF4-FFF2-40B4-BE49-F238E27FC236}">
                <a16:creationId xmlns:a16="http://schemas.microsoft.com/office/drawing/2014/main" id="{656EA6C1-8181-4A53-BD46-9F06814510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50222" y1="28444" x2="50222" y2="284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7689" y="5235600"/>
            <a:ext cx="936096" cy="936096"/>
          </a:xfrm>
          <a:prstGeom prst="rect">
            <a:avLst/>
          </a:prstGeom>
        </p:spPr>
      </p:pic>
      <p:sp>
        <p:nvSpPr>
          <p:cNvPr id="5" name="Beszédbuborék: lekerekített sarkú téglalap 4">
            <a:extLst>
              <a:ext uri="{FF2B5EF4-FFF2-40B4-BE49-F238E27FC236}">
                <a16:creationId xmlns:a16="http://schemas.microsoft.com/office/drawing/2014/main" id="{1B7F805D-2D72-4C26-A42C-969AB56C8070}"/>
              </a:ext>
            </a:extLst>
          </p:cNvPr>
          <p:cNvSpPr/>
          <p:nvPr/>
        </p:nvSpPr>
        <p:spPr>
          <a:xfrm>
            <a:off x="3038678" y="1667481"/>
            <a:ext cx="1600201" cy="695964"/>
          </a:xfrm>
          <a:prstGeom prst="wedgeRoundRectCallou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/>
              <a:t>Ötletelés a projekt témájáról</a:t>
            </a:r>
          </a:p>
        </p:txBody>
      </p:sp>
      <p:sp>
        <p:nvSpPr>
          <p:cNvPr id="9" name="Kivonás jele 8">
            <a:extLst>
              <a:ext uri="{FF2B5EF4-FFF2-40B4-BE49-F238E27FC236}">
                <a16:creationId xmlns:a16="http://schemas.microsoft.com/office/drawing/2014/main" id="{4760851C-49AD-4FC8-98BB-B30B54BC5BD8}"/>
              </a:ext>
            </a:extLst>
          </p:cNvPr>
          <p:cNvSpPr/>
          <p:nvPr/>
        </p:nvSpPr>
        <p:spPr>
          <a:xfrm rot="5400000">
            <a:off x="3201165" y="2947174"/>
            <a:ext cx="551128" cy="412529"/>
          </a:xfrm>
          <a:prstGeom prst="mathMinu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C0E943EC-0D54-42E5-8F1D-1BA5CF0CDAF7}"/>
              </a:ext>
            </a:extLst>
          </p:cNvPr>
          <p:cNvSpPr txBox="1"/>
          <p:nvPr/>
        </p:nvSpPr>
        <p:spPr>
          <a:xfrm>
            <a:off x="3075598" y="2538604"/>
            <a:ext cx="112073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100" b="1" dirty="0">
                <a:latin typeface="Bodoni MT" panose="02070603080606020203" pitchFamily="18" charset="0"/>
              </a:rPr>
              <a:t>Szept. 1 –</a:t>
            </a:r>
          </a:p>
          <a:p>
            <a:r>
              <a:rPr lang="hu-HU" sz="1100" b="1" dirty="0">
                <a:latin typeface="Bodoni MT" panose="02070603080606020203" pitchFamily="18" charset="0"/>
              </a:rPr>
              <a:t> 30</a:t>
            </a:r>
          </a:p>
        </p:txBody>
      </p:sp>
      <p:sp>
        <p:nvSpPr>
          <p:cNvPr id="16" name="Kivonás jele 15">
            <a:extLst>
              <a:ext uri="{FF2B5EF4-FFF2-40B4-BE49-F238E27FC236}">
                <a16:creationId xmlns:a16="http://schemas.microsoft.com/office/drawing/2014/main" id="{FBB8F86F-B331-47AF-A396-B4717E5506AA}"/>
              </a:ext>
            </a:extLst>
          </p:cNvPr>
          <p:cNvSpPr/>
          <p:nvPr/>
        </p:nvSpPr>
        <p:spPr>
          <a:xfrm rot="5400000">
            <a:off x="3808559" y="2940490"/>
            <a:ext cx="551128" cy="412529"/>
          </a:xfrm>
          <a:prstGeom prst="mathMinu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" name="Beszédbuborék: lekerekített sarkú téglalap 18">
            <a:extLst>
              <a:ext uri="{FF2B5EF4-FFF2-40B4-BE49-F238E27FC236}">
                <a16:creationId xmlns:a16="http://schemas.microsoft.com/office/drawing/2014/main" id="{DCA34596-0AD6-4681-8C15-CE2CA768348B}"/>
              </a:ext>
            </a:extLst>
          </p:cNvPr>
          <p:cNvSpPr/>
          <p:nvPr/>
        </p:nvSpPr>
        <p:spPr>
          <a:xfrm rot="10800000">
            <a:off x="2941167" y="3857152"/>
            <a:ext cx="1651025" cy="695953"/>
          </a:xfrm>
          <a:prstGeom prst="wedgeRoundRectCallou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0" name="Szövegdoboz 19">
            <a:extLst>
              <a:ext uri="{FF2B5EF4-FFF2-40B4-BE49-F238E27FC236}">
                <a16:creationId xmlns:a16="http://schemas.microsoft.com/office/drawing/2014/main" id="{FB57ACB5-5E4B-4E72-ACD3-368AF3A8F405}"/>
              </a:ext>
            </a:extLst>
          </p:cNvPr>
          <p:cNvSpPr txBox="1"/>
          <p:nvPr/>
        </p:nvSpPr>
        <p:spPr>
          <a:xfrm>
            <a:off x="3228131" y="4046413"/>
            <a:ext cx="14286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>
                <a:solidFill>
                  <a:schemeClr val="bg1">
                    <a:lumMod val="95000"/>
                  </a:schemeClr>
                </a:solidFill>
              </a:rPr>
              <a:t>Első lépések</a:t>
            </a:r>
          </a:p>
        </p:txBody>
      </p:sp>
      <p:sp>
        <p:nvSpPr>
          <p:cNvPr id="22" name="Szövegdoboz 21">
            <a:extLst>
              <a:ext uri="{FF2B5EF4-FFF2-40B4-BE49-F238E27FC236}">
                <a16:creationId xmlns:a16="http://schemas.microsoft.com/office/drawing/2014/main" id="{42021876-F1C7-4D8B-8C44-82CA387729B9}"/>
              </a:ext>
            </a:extLst>
          </p:cNvPr>
          <p:cNvSpPr txBox="1"/>
          <p:nvPr/>
        </p:nvSpPr>
        <p:spPr>
          <a:xfrm>
            <a:off x="3635965" y="3522097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100" b="1" dirty="0">
                <a:latin typeface="Bodoni MT" panose="02070603080606020203" pitchFamily="18" charset="0"/>
              </a:rPr>
              <a:t>Okt. 1 –14</a:t>
            </a:r>
          </a:p>
        </p:txBody>
      </p:sp>
      <p:sp>
        <p:nvSpPr>
          <p:cNvPr id="24" name="Kivonás jele 23">
            <a:extLst>
              <a:ext uri="{FF2B5EF4-FFF2-40B4-BE49-F238E27FC236}">
                <a16:creationId xmlns:a16="http://schemas.microsoft.com/office/drawing/2014/main" id="{F5827436-3BC0-4E99-AB0E-7F7A7AD68A58}"/>
              </a:ext>
            </a:extLst>
          </p:cNvPr>
          <p:cNvSpPr/>
          <p:nvPr/>
        </p:nvSpPr>
        <p:spPr>
          <a:xfrm rot="5400000">
            <a:off x="4817082" y="2940491"/>
            <a:ext cx="551128" cy="412529"/>
          </a:xfrm>
          <a:prstGeom prst="mathMinu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" name="Beszédbuborék: lekerekített sarkú téglalap 24">
            <a:extLst>
              <a:ext uri="{FF2B5EF4-FFF2-40B4-BE49-F238E27FC236}">
                <a16:creationId xmlns:a16="http://schemas.microsoft.com/office/drawing/2014/main" id="{021DB496-46EB-4218-9E80-60225E94F8B3}"/>
              </a:ext>
            </a:extLst>
          </p:cNvPr>
          <p:cNvSpPr/>
          <p:nvPr/>
        </p:nvSpPr>
        <p:spPr>
          <a:xfrm>
            <a:off x="4684471" y="1652086"/>
            <a:ext cx="1600201" cy="695964"/>
          </a:xfrm>
          <a:prstGeom prst="wedgeRoundRectCallou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/>
              <a:t>Első prototípus, később backend</a:t>
            </a:r>
            <a:endParaRPr lang="hu-HU" sz="1400" dirty="0"/>
          </a:p>
        </p:txBody>
      </p:sp>
      <p:sp>
        <p:nvSpPr>
          <p:cNvPr id="27" name="Szövegdoboz 26">
            <a:extLst>
              <a:ext uri="{FF2B5EF4-FFF2-40B4-BE49-F238E27FC236}">
                <a16:creationId xmlns:a16="http://schemas.microsoft.com/office/drawing/2014/main" id="{EA8B3AE5-9B20-4189-A0D4-2C5C0E96D512}"/>
              </a:ext>
            </a:extLst>
          </p:cNvPr>
          <p:cNvSpPr txBox="1"/>
          <p:nvPr/>
        </p:nvSpPr>
        <p:spPr>
          <a:xfrm>
            <a:off x="4886381" y="2486405"/>
            <a:ext cx="71130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100" b="1" dirty="0">
                <a:latin typeface="Bodoni MT" panose="02070603080606020203" pitchFamily="18" charset="0"/>
              </a:rPr>
              <a:t>Okt. 15 –</a:t>
            </a:r>
          </a:p>
          <a:p>
            <a:r>
              <a:rPr lang="hu-HU" sz="1100" b="1" dirty="0">
                <a:latin typeface="Bodoni MT" panose="02070603080606020203" pitchFamily="18" charset="0"/>
              </a:rPr>
              <a:t> Nov. 11</a:t>
            </a:r>
          </a:p>
        </p:txBody>
      </p:sp>
      <p:sp>
        <p:nvSpPr>
          <p:cNvPr id="18" name="Kivonás jele 17">
            <a:extLst>
              <a:ext uri="{FF2B5EF4-FFF2-40B4-BE49-F238E27FC236}">
                <a16:creationId xmlns:a16="http://schemas.microsoft.com/office/drawing/2014/main" id="{47E16B74-8C55-48EA-A336-377F82838FF4}"/>
              </a:ext>
            </a:extLst>
          </p:cNvPr>
          <p:cNvSpPr/>
          <p:nvPr/>
        </p:nvSpPr>
        <p:spPr>
          <a:xfrm rot="5400000">
            <a:off x="5614171" y="2966824"/>
            <a:ext cx="551128" cy="412529"/>
          </a:xfrm>
          <a:prstGeom prst="mathMinu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" name="Beszédbuborék: lekerekített sarkú téglalap 20">
            <a:extLst>
              <a:ext uri="{FF2B5EF4-FFF2-40B4-BE49-F238E27FC236}">
                <a16:creationId xmlns:a16="http://schemas.microsoft.com/office/drawing/2014/main" id="{0CE2FC55-BD3E-4862-BFA0-86425FA880D7}"/>
              </a:ext>
            </a:extLst>
          </p:cNvPr>
          <p:cNvSpPr/>
          <p:nvPr/>
        </p:nvSpPr>
        <p:spPr>
          <a:xfrm rot="10800000">
            <a:off x="4772176" y="3882676"/>
            <a:ext cx="1651025" cy="695953"/>
          </a:xfrm>
          <a:prstGeom prst="wedgeRoundRectCallou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36E56812-6154-467C-886F-C28B4DC4ACD3}"/>
              </a:ext>
            </a:extLst>
          </p:cNvPr>
          <p:cNvSpPr txBox="1"/>
          <p:nvPr/>
        </p:nvSpPr>
        <p:spPr>
          <a:xfrm>
            <a:off x="5009970" y="3969043"/>
            <a:ext cx="12747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>
                <a:solidFill>
                  <a:schemeClr val="bg1"/>
                </a:solidFill>
              </a:rPr>
              <a:t>Bejelentkezés és Regisztráció</a:t>
            </a:r>
          </a:p>
        </p:txBody>
      </p:sp>
      <p:sp>
        <p:nvSpPr>
          <p:cNvPr id="23" name="Szövegdoboz 22">
            <a:extLst>
              <a:ext uri="{FF2B5EF4-FFF2-40B4-BE49-F238E27FC236}">
                <a16:creationId xmlns:a16="http://schemas.microsoft.com/office/drawing/2014/main" id="{82382535-8C11-42D2-9ECF-AE701535519C}"/>
              </a:ext>
            </a:extLst>
          </p:cNvPr>
          <p:cNvSpPr txBox="1"/>
          <p:nvPr/>
        </p:nvSpPr>
        <p:spPr>
          <a:xfrm>
            <a:off x="5375564" y="3451789"/>
            <a:ext cx="112073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100" b="1" dirty="0">
                <a:latin typeface="Bodoni MT" panose="02070603080606020203" pitchFamily="18" charset="0"/>
              </a:rPr>
              <a:t>Nov. 12 –</a:t>
            </a:r>
          </a:p>
          <a:p>
            <a:r>
              <a:rPr lang="hu-HU" sz="1100" b="1" dirty="0">
                <a:latin typeface="Bodoni MT" panose="02070603080606020203" pitchFamily="18" charset="0"/>
              </a:rPr>
              <a:t>Dec. 7</a:t>
            </a:r>
          </a:p>
        </p:txBody>
      </p:sp>
      <p:sp>
        <p:nvSpPr>
          <p:cNvPr id="26" name="Kivonás jele 25">
            <a:extLst>
              <a:ext uri="{FF2B5EF4-FFF2-40B4-BE49-F238E27FC236}">
                <a16:creationId xmlns:a16="http://schemas.microsoft.com/office/drawing/2014/main" id="{C96EEFFA-98ED-425B-8E70-93DE06F8B237}"/>
              </a:ext>
            </a:extLst>
          </p:cNvPr>
          <p:cNvSpPr/>
          <p:nvPr/>
        </p:nvSpPr>
        <p:spPr>
          <a:xfrm rot="5400000">
            <a:off x="6499682" y="2967451"/>
            <a:ext cx="551128" cy="412529"/>
          </a:xfrm>
          <a:prstGeom prst="mathMinu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8" name="Beszédbuborék: lekerekített sarkú téglalap 27">
            <a:extLst>
              <a:ext uri="{FF2B5EF4-FFF2-40B4-BE49-F238E27FC236}">
                <a16:creationId xmlns:a16="http://schemas.microsoft.com/office/drawing/2014/main" id="{EB1A4D11-1BB7-432E-824A-8B44373294CA}"/>
              </a:ext>
            </a:extLst>
          </p:cNvPr>
          <p:cNvSpPr/>
          <p:nvPr/>
        </p:nvSpPr>
        <p:spPr>
          <a:xfrm>
            <a:off x="6330264" y="1652086"/>
            <a:ext cx="1600201" cy="695964"/>
          </a:xfrm>
          <a:prstGeom prst="wedgeRoundRectCallou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/>
              <a:t>A kedvenc és kosár oldal</a:t>
            </a:r>
          </a:p>
        </p:txBody>
      </p:sp>
      <p:sp>
        <p:nvSpPr>
          <p:cNvPr id="29" name="Szövegdoboz 28">
            <a:extLst>
              <a:ext uri="{FF2B5EF4-FFF2-40B4-BE49-F238E27FC236}">
                <a16:creationId xmlns:a16="http://schemas.microsoft.com/office/drawing/2014/main" id="{28DEF49B-6FAA-48C9-B8DD-E1B9B9482519}"/>
              </a:ext>
            </a:extLst>
          </p:cNvPr>
          <p:cNvSpPr txBox="1"/>
          <p:nvPr/>
        </p:nvSpPr>
        <p:spPr>
          <a:xfrm>
            <a:off x="6423201" y="2559884"/>
            <a:ext cx="100610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100" b="1" dirty="0">
                <a:latin typeface="Bodoni MT" panose="02070603080606020203" pitchFamily="18" charset="0"/>
              </a:rPr>
              <a:t>Dec. 7 –</a:t>
            </a:r>
          </a:p>
          <a:p>
            <a:r>
              <a:rPr lang="hu-HU" sz="1100" b="1" dirty="0">
                <a:latin typeface="Bodoni MT" panose="02070603080606020203" pitchFamily="18" charset="0"/>
              </a:rPr>
              <a:t>Jan. 12</a:t>
            </a:r>
          </a:p>
        </p:txBody>
      </p:sp>
      <p:sp>
        <p:nvSpPr>
          <p:cNvPr id="30" name="Kivonás jele 29">
            <a:extLst>
              <a:ext uri="{FF2B5EF4-FFF2-40B4-BE49-F238E27FC236}">
                <a16:creationId xmlns:a16="http://schemas.microsoft.com/office/drawing/2014/main" id="{8FCB87F0-275D-4F21-9D3D-D217D6265AAE}"/>
              </a:ext>
            </a:extLst>
          </p:cNvPr>
          <p:cNvSpPr/>
          <p:nvPr/>
        </p:nvSpPr>
        <p:spPr>
          <a:xfrm rot="5400000">
            <a:off x="7385192" y="2966824"/>
            <a:ext cx="551128" cy="412529"/>
          </a:xfrm>
          <a:prstGeom prst="mathMinu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1" name="Beszédbuborék: lekerekített sarkú téglalap 30">
            <a:extLst>
              <a:ext uri="{FF2B5EF4-FFF2-40B4-BE49-F238E27FC236}">
                <a16:creationId xmlns:a16="http://schemas.microsoft.com/office/drawing/2014/main" id="{3E640B70-27A8-477D-840A-B39B9B6F9BC4}"/>
              </a:ext>
            </a:extLst>
          </p:cNvPr>
          <p:cNvSpPr/>
          <p:nvPr/>
        </p:nvSpPr>
        <p:spPr>
          <a:xfrm rot="10800000">
            <a:off x="6522467" y="3882676"/>
            <a:ext cx="1651025" cy="695953"/>
          </a:xfrm>
          <a:prstGeom prst="wedgeRoundRectCallou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D723F839-F19B-451B-B7E2-6CA51B670286}"/>
              </a:ext>
            </a:extLst>
          </p:cNvPr>
          <p:cNvSpPr txBox="1"/>
          <p:nvPr/>
        </p:nvSpPr>
        <p:spPr>
          <a:xfrm>
            <a:off x="6683965" y="3914699"/>
            <a:ext cx="175737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>
                <a:solidFill>
                  <a:schemeClr val="bg1"/>
                </a:solidFill>
              </a:rPr>
              <a:t>Fizetési oldal, </a:t>
            </a:r>
            <a:r>
              <a:rPr lang="hu-HU" sz="1400" dirty="0" err="1">
                <a:solidFill>
                  <a:schemeClr val="bg1"/>
                </a:solidFill>
              </a:rPr>
              <a:t>reszponzivitás</a:t>
            </a:r>
            <a:r>
              <a:rPr lang="hu-HU" sz="1400" dirty="0">
                <a:solidFill>
                  <a:schemeClr val="bg1"/>
                </a:solidFill>
              </a:rPr>
              <a:t> elkezdése</a:t>
            </a:r>
          </a:p>
        </p:txBody>
      </p:sp>
      <p:sp>
        <p:nvSpPr>
          <p:cNvPr id="32" name="Kivonás jele 31">
            <a:extLst>
              <a:ext uri="{FF2B5EF4-FFF2-40B4-BE49-F238E27FC236}">
                <a16:creationId xmlns:a16="http://schemas.microsoft.com/office/drawing/2014/main" id="{15D33254-A7F2-4091-B89F-A021E6A21148}"/>
              </a:ext>
            </a:extLst>
          </p:cNvPr>
          <p:cNvSpPr/>
          <p:nvPr/>
        </p:nvSpPr>
        <p:spPr>
          <a:xfrm rot="5400000">
            <a:off x="8195525" y="2966824"/>
            <a:ext cx="551128" cy="412529"/>
          </a:xfrm>
          <a:prstGeom prst="mathMinu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3" name="Beszédbuborék: lekerekített sarkú téglalap 32">
            <a:extLst>
              <a:ext uri="{FF2B5EF4-FFF2-40B4-BE49-F238E27FC236}">
                <a16:creationId xmlns:a16="http://schemas.microsoft.com/office/drawing/2014/main" id="{D9B5DB42-0AEC-40EC-81BE-20A53AAD8555}"/>
              </a:ext>
            </a:extLst>
          </p:cNvPr>
          <p:cNvSpPr/>
          <p:nvPr/>
        </p:nvSpPr>
        <p:spPr>
          <a:xfrm>
            <a:off x="8057052" y="1594453"/>
            <a:ext cx="1600201" cy="695964"/>
          </a:xfrm>
          <a:prstGeom prst="wedgeRoundRectCallou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 err="1"/>
              <a:t>Reszponzivitás</a:t>
            </a:r>
            <a:r>
              <a:rPr lang="hu-HU" sz="1400" dirty="0"/>
              <a:t> véglegesítése, utolsó simítások</a:t>
            </a:r>
          </a:p>
        </p:txBody>
      </p:sp>
      <p:sp>
        <p:nvSpPr>
          <p:cNvPr id="34" name="Szövegdoboz 33">
            <a:extLst>
              <a:ext uri="{FF2B5EF4-FFF2-40B4-BE49-F238E27FC236}">
                <a16:creationId xmlns:a16="http://schemas.microsoft.com/office/drawing/2014/main" id="{A3DEF2C1-2615-47CC-81D9-873C4C058F16}"/>
              </a:ext>
            </a:extLst>
          </p:cNvPr>
          <p:cNvSpPr txBox="1"/>
          <p:nvPr/>
        </p:nvSpPr>
        <p:spPr>
          <a:xfrm>
            <a:off x="7316161" y="3423633"/>
            <a:ext cx="94088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100" b="1" dirty="0">
                <a:latin typeface="Bodoni MT" panose="02070603080606020203" pitchFamily="18" charset="0"/>
              </a:rPr>
              <a:t>Jan. 13 –</a:t>
            </a:r>
          </a:p>
          <a:p>
            <a:r>
              <a:rPr lang="hu-HU" sz="1100" b="1" dirty="0">
                <a:latin typeface="Bodoni MT" panose="02070603080606020203" pitchFamily="18" charset="0"/>
              </a:rPr>
              <a:t>Febr. 28</a:t>
            </a:r>
          </a:p>
        </p:txBody>
      </p:sp>
      <p:sp>
        <p:nvSpPr>
          <p:cNvPr id="35" name="Beszédbuborék: lekerekített sarkú téglalap 34">
            <a:extLst>
              <a:ext uri="{FF2B5EF4-FFF2-40B4-BE49-F238E27FC236}">
                <a16:creationId xmlns:a16="http://schemas.microsoft.com/office/drawing/2014/main" id="{92BD400C-8883-4446-AE37-A3B3C3E9BB04}"/>
              </a:ext>
            </a:extLst>
          </p:cNvPr>
          <p:cNvSpPr/>
          <p:nvPr/>
        </p:nvSpPr>
        <p:spPr>
          <a:xfrm rot="10800000">
            <a:off x="8334991" y="3882676"/>
            <a:ext cx="1651025" cy="695953"/>
          </a:xfrm>
          <a:prstGeom prst="wedgeRoundRectCallou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6" name="Kivonás jele 35">
            <a:extLst>
              <a:ext uri="{FF2B5EF4-FFF2-40B4-BE49-F238E27FC236}">
                <a16:creationId xmlns:a16="http://schemas.microsoft.com/office/drawing/2014/main" id="{8CA7DF27-0CCB-402E-85B8-265B2DA81FD3}"/>
              </a:ext>
            </a:extLst>
          </p:cNvPr>
          <p:cNvSpPr/>
          <p:nvPr/>
        </p:nvSpPr>
        <p:spPr>
          <a:xfrm rot="5400000">
            <a:off x="9250136" y="2956381"/>
            <a:ext cx="551128" cy="412529"/>
          </a:xfrm>
          <a:prstGeom prst="mathMinu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DF79778B-E8D0-4259-94AD-B6D54CAEB856}"/>
              </a:ext>
            </a:extLst>
          </p:cNvPr>
          <p:cNvSpPr txBox="1"/>
          <p:nvPr/>
        </p:nvSpPr>
        <p:spPr>
          <a:xfrm>
            <a:off x="8347470" y="3807085"/>
            <a:ext cx="16385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600" dirty="0">
                <a:solidFill>
                  <a:schemeClr val="bg1"/>
                </a:solidFill>
              </a:rPr>
              <a:t>Tesztelés, </a:t>
            </a:r>
            <a:r>
              <a:rPr lang="hu-HU" sz="1600" dirty="0" err="1">
                <a:solidFill>
                  <a:schemeClr val="bg1"/>
                </a:solidFill>
              </a:rPr>
              <a:t>prezántáció</a:t>
            </a:r>
            <a:r>
              <a:rPr lang="hu-HU" sz="1600" dirty="0">
                <a:solidFill>
                  <a:schemeClr val="bg1"/>
                </a:solidFill>
              </a:rPr>
              <a:t>/</a:t>
            </a:r>
          </a:p>
          <a:p>
            <a:r>
              <a:rPr lang="hu-HU" sz="1600" dirty="0">
                <a:solidFill>
                  <a:schemeClr val="bg1"/>
                </a:solidFill>
              </a:rPr>
              <a:t>dokumentáció</a:t>
            </a:r>
          </a:p>
        </p:txBody>
      </p:sp>
      <p:sp>
        <p:nvSpPr>
          <p:cNvPr id="37" name="Szövegdoboz 36">
            <a:extLst>
              <a:ext uri="{FF2B5EF4-FFF2-40B4-BE49-F238E27FC236}">
                <a16:creationId xmlns:a16="http://schemas.microsoft.com/office/drawing/2014/main" id="{D821B755-7C2F-4312-ACE2-70AD5B3A562F}"/>
              </a:ext>
            </a:extLst>
          </p:cNvPr>
          <p:cNvSpPr txBox="1"/>
          <p:nvPr/>
        </p:nvSpPr>
        <p:spPr>
          <a:xfrm>
            <a:off x="8173492" y="2528649"/>
            <a:ext cx="79369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100" b="1" dirty="0">
                <a:latin typeface="Bodoni MT" panose="02070603080606020203" pitchFamily="18" charset="0"/>
              </a:rPr>
              <a:t>Márc. 1 –</a:t>
            </a:r>
          </a:p>
          <a:p>
            <a:r>
              <a:rPr lang="hu-HU" sz="1100" b="1" dirty="0">
                <a:latin typeface="Bodoni MT" panose="02070603080606020203" pitchFamily="18" charset="0"/>
              </a:rPr>
              <a:t>Márc. 31</a:t>
            </a:r>
            <a:endParaRPr lang="hu-HU" sz="1100" dirty="0"/>
          </a:p>
        </p:txBody>
      </p:sp>
      <p:sp>
        <p:nvSpPr>
          <p:cNvPr id="39" name="Szövegdoboz 38">
            <a:extLst>
              <a:ext uri="{FF2B5EF4-FFF2-40B4-BE49-F238E27FC236}">
                <a16:creationId xmlns:a16="http://schemas.microsoft.com/office/drawing/2014/main" id="{D09DC8B1-EEFF-44F8-A69E-3E7213A5FE4A}"/>
              </a:ext>
            </a:extLst>
          </p:cNvPr>
          <p:cNvSpPr txBox="1"/>
          <p:nvPr/>
        </p:nvSpPr>
        <p:spPr>
          <a:xfrm>
            <a:off x="9133603" y="3409845"/>
            <a:ext cx="108603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100" b="1" dirty="0">
                <a:latin typeface="Bodoni MT" panose="02070603080606020203" pitchFamily="18" charset="0"/>
              </a:rPr>
              <a:t>Ápr. 1 –</a:t>
            </a:r>
          </a:p>
          <a:p>
            <a:r>
              <a:rPr lang="hu-HU" sz="1100" b="1" dirty="0">
                <a:latin typeface="Bodoni MT" panose="02070603080606020203" pitchFamily="18" charset="0"/>
              </a:rPr>
              <a:t>Ápr. 20</a:t>
            </a:r>
          </a:p>
        </p:txBody>
      </p:sp>
    </p:spTree>
    <p:extLst>
      <p:ext uri="{BB962C8B-B14F-4D97-AF65-F5344CB8AC3E}">
        <p14:creationId xmlns:p14="http://schemas.microsoft.com/office/powerpoint/2010/main" val="38770172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7DC3AD90-149D-410D-89A6-45F713B8557A}"/>
              </a:ext>
            </a:extLst>
          </p:cNvPr>
          <p:cNvSpPr txBox="1"/>
          <p:nvPr/>
        </p:nvSpPr>
        <p:spPr>
          <a:xfrm>
            <a:off x="4713402" y="336710"/>
            <a:ext cx="3327662" cy="64633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hu-HU" sz="3600" b="1" dirty="0" err="1">
                <a:latin typeface="Bodoni MT" panose="02070603080606020203" pitchFamily="18" charset="0"/>
              </a:rPr>
              <a:t>Reszponzivitás</a:t>
            </a:r>
            <a:endParaRPr lang="hu-HU" sz="3600" b="1" dirty="0">
              <a:latin typeface="Bodoni MT" panose="02070603080606020203" pitchFamily="18" charset="0"/>
            </a:endParaRP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17EF31DA-6BB0-4681-9465-E8D28D8F93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5296" y="1618190"/>
            <a:ext cx="2152247" cy="2876550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2C2363B9-B6FE-482E-81A6-BA180B5ECB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6743" y="1640416"/>
            <a:ext cx="1896146" cy="2921000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6729C5FF-C867-4DF3-B963-A1B1C8FD27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9118" y="1640416"/>
            <a:ext cx="1934352" cy="2832099"/>
          </a:xfrm>
          <a:prstGeom prst="rect">
            <a:avLst/>
          </a:prstGeom>
        </p:spPr>
      </p:pic>
      <p:sp>
        <p:nvSpPr>
          <p:cNvPr id="3" name="Szövegdoboz 2">
            <a:extLst>
              <a:ext uri="{FF2B5EF4-FFF2-40B4-BE49-F238E27FC236}">
                <a16:creationId xmlns:a16="http://schemas.microsoft.com/office/drawing/2014/main" id="{452A2D7B-85FF-4816-B49E-9FE7FEE72DE0}"/>
              </a:ext>
            </a:extLst>
          </p:cNvPr>
          <p:cNvSpPr txBox="1"/>
          <p:nvPr/>
        </p:nvSpPr>
        <p:spPr>
          <a:xfrm>
            <a:off x="2777065" y="4929834"/>
            <a:ext cx="76877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b="1" dirty="0">
                <a:latin typeface="Bodoni MT" panose="02070603080606020203" pitchFamily="18" charset="0"/>
              </a:rPr>
              <a:t>A </a:t>
            </a:r>
            <a:r>
              <a:rPr lang="hu-HU" sz="2000" b="1" dirty="0" err="1">
                <a:latin typeface="Bodoni MT" panose="02070603080606020203" pitchFamily="18" charset="0"/>
              </a:rPr>
              <a:t>reszponzivitás</a:t>
            </a:r>
            <a:r>
              <a:rPr lang="hu-HU" sz="2000" b="1" dirty="0">
                <a:latin typeface="Bodoni MT" panose="02070603080606020203" pitchFamily="18" charset="0"/>
              </a:rPr>
              <a:t> működik asztali számítógépen, tableten és telefonon.</a:t>
            </a:r>
          </a:p>
        </p:txBody>
      </p:sp>
    </p:spTree>
    <p:extLst>
      <p:ext uri="{BB962C8B-B14F-4D97-AF65-F5344CB8AC3E}">
        <p14:creationId xmlns:p14="http://schemas.microsoft.com/office/powerpoint/2010/main" val="31501755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32077BB7-01D8-46DF-9523-5513820A9CEA}"/>
              </a:ext>
            </a:extLst>
          </p:cNvPr>
          <p:cNvSpPr txBox="1"/>
          <p:nvPr/>
        </p:nvSpPr>
        <p:spPr>
          <a:xfrm>
            <a:off x="3908457" y="212189"/>
            <a:ext cx="4375085" cy="64633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hu-HU" sz="3600" b="1" dirty="0">
                <a:latin typeface="Bodoni MT" panose="02070603080606020203" pitchFamily="18" charset="0"/>
              </a:rPr>
              <a:t>Backend Tesztelés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1D4F6FC9-297B-4B9A-9C66-59768E8AE1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3267" y="995396"/>
            <a:ext cx="4057604" cy="4010222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6E745827-012B-4A50-A57F-347BD27BB2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9669" y="3353950"/>
            <a:ext cx="5441133" cy="1651668"/>
          </a:xfrm>
          <a:prstGeom prst="rect">
            <a:avLst/>
          </a:prstGeom>
        </p:spPr>
      </p:pic>
      <p:sp>
        <p:nvSpPr>
          <p:cNvPr id="3" name="Szövegdoboz 2">
            <a:extLst>
              <a:ext uri="{FF2B5EF4-FFF2-40B4-BE49-F238E27FC236}">
                <a16:creationId xmlns:a16="http://schemas.microsoft.com/office/drawing/2014/main" id="{A09613F7-85E0-42EB-96D0-2E8B1CAFB86E}"/>
              </a:ext>
            </a:extLst>
          </p:cNvPr>
          <p:cNvSpPr txBox="1"/>
          <p:nvPr/>
        </p:nvSpPr>
        <p:spPr>
          <a:xfrm>
            <a:off x="5799669" y="1532466"/>
            <a:ext cx="514480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>
                <a:latin typeface="Bodoni MT" panose="02070603080606020203" pitchFamily="18" charset="0"/>
              </a:rPr>
              <a:t>A backend teszteléshez a Node.js saját, beépített tesztfuttatóját (</a:t>
            </a:r>
            <a:r>
              <a:rPr lang="hu-HU" b="1" dirty="0" err="1">
                <a:latin typeface="Bodoni MT" panose="02070603080606020203" pitchFamily="18" charset="0"/>
              </a:rPr>
              <a:t>node:test</a:t>
            </a:r>
            <a:r>
              <a:rPr lang="hu-HU" b="1" dirty="0">
                <a:latin typeface="Bodoni MT" panose="02070603080606020203" pitchFamily="18" charset="0"/>
              </a:rPr>
              <a:t>) alkalmaztuk. Ez egy modern és hatékony natív megoldás, amely lehetővé teszi a szerveroldali logika, az adatbázis-műveletek és az API végpontok teljes körű ellenőrzését külső könyvtárak használata nélkül.</a:t>
            </a:r>
          </a:p>
        </p:txBody>
      </p:sp>
    </p:spTree>
    <p:extLst>
      <p:ext uri="{BB962C8B-B14F-4D97-AF65-F5344CB8AC3E}">
        <p14:creationId xmlns:p14="http://schemas.microsoft.com/office/powerpoint/2010/main" val="42840314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72CC12F0-F44C-41F1-B2E7-9BE500CB3C3B}"/>
              </a:ext>
            </a:extLst>
          </p:cNvPr>
          <p:cNvSpPr txBox="1"/>
          <p:nvPr/>
        </p:nvSpPr>
        <p:spPr>
          <a:xfrm>
            <a:off x="3928534" y="0"/>
            <a:ext cx="4690533" cy="64633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hu-HU" sz="3600" b="1" dirty="0">
                <a:latin typeface="Bodoni MT" panose="02070603080606020203" pitchFamily="18" charset="0"/>
              </a:rPr>
              <a:t>Frontend Tesztelés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6CA8F5DB-BA09-4D32-8BDB-09150FBA09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7467" y="1040475"/>
            <a:ext cx="4292599" cy="1985278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919A47E6-6354-4095-A855-EAD31D13BA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7667" y="3025753"/>
            <a:ext cx="5985934" cy="2791772"/>
          </a:xfrm>
          <a:prstGeom prst="rect">
            <a:avLst/>
          </a:prstGeom>
        </p:spPr>
      </p:pic>
      <p:sp>
        <p:nvSpPr>
          <p:cNvPr id="3" name="Szövegdoboz 2">
            <a:extLst>
              <a:ext uri="{FF2B5EF4-FFF2-40B4-BE49-F238E27FC236}">
                <a16:creationId xmlns:a16="http://schemas.microsoft.com/office/drawing/2014/main" id="{1B39963F-54F1-4F47-A9B7-3144AAFFB68C}"/>
              </a:ext>
            </a:extLst>
          </p:cNvPr>
          <p:cNvSpPr txBox="1"/>
          <p:nvPr/>
        </p:nvSpPr>
        <p:spPr>
          <a:xfrm>
            <a:off x="6629399" y="1219200"/>
            <a:ext cx="469053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>
                <a:latin typeface="Bodoni MT" panose="02070603080606020203" pitchFamily="18" charset="0"/>
              </a:rPr>
              <a:t>A frontend teszteléshez a </a:t>
            </a:r>
            <a:r>
              <a:rPr lang="hu-HU" b="1" dirty="0" err="1">
                <a:latin typeface="Bodoni MT" panose="02070603080606020203" pitchFamily="18" charset="0"/>
              </a:rPr>
              <a:t>Cypress</a:t>
            </a:r>
            <a:r>
              <a:rPr lang="hu-HU" b="1" dirty="0">
                <a:latin typeface="Bodoni MT" panose="02070603080606020203" pitchFamily="18" charset="0"/>
              </a:rPr>
              <a:t>-t használtuk. Ez egy modern, JavaScript-alapú tesztelési keretrendszer, amely egyben tartalmaz minden szükséges eszközt a webes felületek ellenőrzéséhez.</a:t>
            </a:r>
          </a:p>
        </p:txBody>
      </p:sp>
    </p:spTree>
    <p:extLst>
      <p:ext uri="{BB962C8B-B14F-4D97-AF65-F5344CB8AC3E}">
        <p14:creationId xmlns:p14="http://schemas.microsoft.com/office/powerpoint/2010/main" val="28965835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0F24E538-36AD-45F3-AFB1-9FD927A47AEC}"/>
              </a:ext>
            </a:extLst>
          </p:cNvPr>
          <p:cNvSpPr txBox="1"/>
          <p:nvPr/>
        </p:nvSpPr>
        <p:spPr>
          <a:xfrm>
            <a:off x="5232399" y="252798"/>
            <a:ext cx="1413933" cy="64633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hu-HU" sz="3600" b="1" dirty="0">
                <a:latin typeface="Bodoni MT" panose="02070603080606020203" pitchFamily="18" charset="0"/>
              </a:rPr>
              <a:t>SWOT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DCF2A0C4-48AE-4224-B285-69F994807CA5}"/>
              </a:ext>
            </a:extLst>
          </p:cNvPr>
          <p:cNvSpPr txBox="1"/>
          <p:nvPr/>
        </p:nvSpPr>
        <p:spPr>
          <a:xfrm>
            <a:off x="2777067" y="1464733"/>
            <a:ext cx="25992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hu-HU" sz="2000" b="1" dirty="0">
                <a:latin typeface="Bodoni MT" panose="02070603080606020203" pitchFamily="18" charset="0"/>
              </a:rPr>
              <a:t>Erősségek: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F9E12D4B-8307-433E-ABE8-9D3D51E8647B}"/>
              </a:ext>
            </a:extLst>
          </p:cNvPr>
          <p:cNvSpPr txBox="1"/>
          <p:nvPr/>
        </p:nvSpPr>
        <p:spPr>
          <a:xfrm>
            <a:off x="3115735" y="1864843"/>
            <a:ext cx="338666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400" b="1" dirty="0">
                <a:latin typeface="Bodoni MT" panose="02070603080606020203" pitchFamily="18" charset="0"/>
              </a:rPr>
              <a:t>Felhasználóbarát felület, modern dizájn.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400" b="1" dirty="0">
                <a:latin typeface="Bodoni MT" panose="02070603080606020203" pitchFamily="18" charset="0"/>
              </a:rPr>
              <a:t>Adatbázis-alapú parfümkezelés.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400" b="1" dirty="0">
                <a:latin typeface="Bodoni MT" panose="02070603080606020203" pitchFamily="18" charset="0"/>
              </a:rPr>
              <a:t>Online elérhetőség, szélesebb vásárlói kör.</a:t>
            </a: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5B9EDF68-B061-401B-B2FC-4928C2056E88}"/>
              </a:ext>
            </a:extLst>
          </p:cNvPr>
          <p:cNvSpPr txBox="1"/>
          <p:nvPr/>
        </p:nvSpPr>
        <p:spPr>
          <a:xfrm>
            <a:off x="2844801" y="3665336"/>
            <a:ext cx="21674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hu-HU" sz="2000" b="1" dirty="0">
                <a:latin typeface="Bodoni MT" panose="02070603080606020203" pitchFamily="18" charset="0"/>
              </a:rPr>
              <a:t>Gyengeségek</a:t>
            </a: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AEE54E61-3DD2-44B8-8244-5A441D495BF3}"/>
              </a:ext>
            </a:extLst>
          </p:cNvPr>
          <p:cNvSpPr txBox="1"/>
          <p:nvPr/>
        </p:nvSpPr>
        <p:spPr>
          <a:xfrm>
            <a:off x="3115733" y="4165601"/>
            <a:ext cx="3530599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400" b="1" dirty="0">
                <a:latin typeface="Bodoni MT" panose="02070603080606020203" pitchFamily="18" charset="0"/>
              </a:rPr>
              <a:t>Folyamatos karbantartási és fejlesztési igény.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400" b="1" dirty="0">
                <a:latin typeface="Bodoni MT" panose="02070603080606020203" pitchFamily="18" charset="0"/>
              </a:rPr>
              <a:t>Mobil optimalizáció további fejlesztésre szorul.</a:t>
            </a:r>
          </a:p>
          <a:p>
            <a:endParaRPr lang="hu-HU" dirty="0"/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02DBABC1-8395-4E9D-AAE9-2D6CCE4B4FE4}"/>
              </a:ext>
            </a:extLst>
          </p:cNvPr>
          <p:cNvSpPr txBox="1"/>
          <p:nvPr/>
        </p:nvSpPr>
        <p:spPr>
          <a:xfrm>
            <a:off x="6824133" y="1464733"/>
            <a:ext cx="21759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hu-HU" sz="2000" b="1" dirty="0">
                <a:latin typeface="Bodoni MT" panose="02070603080606020203" pitchFamily="18" charset="0"/>
              </a:rPr>
              <a:t>Veszélyek:</a:t>
            </a:r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DBE8A076-D13E-4F37-B2E3-DAB7A30024F9}"/>
              </a:ext>
            </a:extLst>
          </p:cNvPr>
          <p:cNvSpPr txBox="1"/>
          <p:nvPr/>
        </p:nvSpPr>
        <p:spPr>
          <a:xfrm>
            <a:off x="7014633" y="1926398"/>
            <a:ext cx="397086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400" b="1" dirty="0">
                <a:latin typeface="Bodoni MT" panose="02070603080606020203" pitchFamily="18" charset="0"/>
              </a:rPr>
              <a:t>Erős piaci versengés a konkurensparfümáruházakkal( PL. :Douglas).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400" b="1" dirty="0">
                <a:latin typeface="Bodoni MT" panose="02070603080606020203" pitchFamily="18" charset="0"/>
              </a:rPr>
              <a:t>Technikai hibák és adatbiztonsági kockázatok.</a:t>
            </a:r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9871FC24-E87B-45C1-A826-022B9385524C}"/>
              </a:ext>
            </a:extLst>
          </p:cNvPr>
          <p:cNvSpPr txBox="1"/>
          <p:nvPr/>
        </p:nvSpPr>
        <p:spPr>
          <a:xfrm>
            <a:off x="6824133" y="3665336"/>
            <a:ext cx="2057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hu-HU" sz="2000" b="1" dirty="0">
                <a:latin typeface="Bodoni MT" panose="02070603080606020203" pitchFamily="18" charset="0"/>
              </a:rPr>
              <a:t>Lehetőségek</a:t>
            </a:r>
            <a:r>
              <a:rPr lang="hu-HU" b="1" dirty="0">
                <a:latin typeface="Bodoni MT" panose="02070603080606020203" pitchFamily="18" charset="0"/>
              </a:rPr>
              <a:t>:</a:t>
            </a:r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DCE91C5C-3762-4466-976B-BBAF5259C50C}"/>
              </a:ext>
            </a:extLst>
          </p:cNvPr>
          <p:cNvSpPr txBox="1"/>
          <p:nvPr/>
        </p:nvSpPr>
        <p:spPr>
          <a:xfrm>
            <a:off x="7014633" y="4311666"/>
            <a:ext cx="409786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400" b="1" dirty="0">
                <a:latin typeface="Bodoni MT" panose="02070603080606020203" pitchFamily="18" charset="0"/>
              </a:rPr>
              <a:t>Hűségprogramok és személyre szabott ajánlatok.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400" b="1" dirty="0">
                <a:latin typeface="Bodoni MT" panose="02070603080606020203" pitchFamily="18" charset="0"/>
              </a:rPr>
              <a:t>Külföldre való szállítás.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400" b="1" dirty="0">
                <a:latin typeface="Bodoni MT" panose="02070603080606020203" pitchFamily="18" charset="0"/>
              </a:rPr>
              <a:t>Többnyelvű támogatás.</a:t>
            </a:r>
          </a:p>
        </p:txBody>
      </p:sp>
    </p:spTree>
    <p:extLst>
      <p:ext uri="{BB962C8B-B14F-4D97-AF65-F5344CB8AC3E}">
        <p14:creationId xmlns:p14="http://schemas.microsoft.com/office/powerpoint/2010/main" val="18692658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8" grpId="0"/>
      <p:bldP spid="9" grpId="0"/>
      <p:bldP spid="10" grpId="0"/>
      <p:bldP spid="12" grpId="0"/>
      <p:bldP spid="13" grpId="0"/>
      <p:bldP spid="1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72D6B6B-3627-4F92-98D0-BB2C3E4B27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775231"/>
            <a:ext cx="9144000" cy="2387600"/>
          </a:xfr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hu-HU" b="1" dirty="0">
                <a:latin typeface="Bodoni MT" panose="02070603080606020203" pitchFamily="18" charset="0"/>
              </a:rPr>
              <a:t>Köszönjük a figyelmet!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8ED36EE1-0B8B-4F22-98F8-D140B4A267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823803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979</Words>
  <Application>Microsoft Office PowerPoint</Application>
  <PresentationFormat>Szélesvásznú</PresentationFormat>
  <Paragraphs>158</Paragraphs>
  <Slides>24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24</vt:i4>
      </vt:variant>
    </vt:vector>
  </HeadingPairs>
  <TitlesOfParts>
    <vt:vector size="30" baseType="lpstr">
      <vt:lpstr>Arial</vt:lpstr>
      <vt:lpstr>Bodoni MT</vt:lpstr>
      <vt:lpstr>Calibri</vt:lpstr>
      <vt:lpstr>Calibri Light</vt:lpstr>
      <vt:lpstr>Wingdings</vt:lpstr>
      <vt:lpstr>Office-téma</vt:lpstr>
      <vt:lpstr>Latino Parfüm Webshop</vt:lpstr>
      <vt:lpstr>A Latino csapatfelosztása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Köszönjük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veres.david@szbiszeged.local</dc:creator>
  <cp:lastModifiedBy>veres.david@szbiszeged.local</cp:lastModifiedBy>
  <cp:revision>72</cp:revision>
  <dcterms:created xsi:type="dcterms:W3CDTF">2026-01-29T09:37:40Z</dcterms:created>
  <dcterms:modified xsi:type="dcterms:W3CDTF">2026-03-11T15:38:10Z</dcterms:modified>
</cp:coreProperties>
</file>