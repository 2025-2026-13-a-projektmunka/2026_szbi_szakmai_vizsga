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4351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9846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860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5039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6224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2650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6494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4135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5991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6702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216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2929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021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430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94844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4713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2256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8F610-9F44-4F40-BBCE-801C7E54CCBF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3AB70-A1CC-4D17-BE39-17F68E384E59}" type="slidenum">
              <a:rPr lang="hu-HU" smtClean="0"/>
              <a:t>‹#›</a:t>
            </a:fld>
            <a:endParaRPr lang="hu-HU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E8FE9133-383C-45DC-AD43-2D158336E79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4901">
            <a:off x="128622" y="509224"/>
            <a:ext cx="2062451" cy="347711"/>
          </a:xfrm>
          <a:prstGeom prst="rect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7" name="Robbanás: 8 ágú 6">
            <a:extLst>
              <a:ext uri="{FF2B5EF4-FFF2-40B4-BE49-F238E27FC236}">
                <a16:creationId xmlns:a16="http://schemas.microsoft.com/office/drawing/2014/main" id="{8FF324A5-3F09-4ADB-8187-262734A612B0}"/>
              </a:ext>
            </a:extLst>
          </p:cNvPr>
          <p:cNvSpPr/>
          <p:nvPr userDrawn="1"/>
        </p:nvSpPr>
        <p:spPr>
          <a:xfrm>
            <a:off x="9808191" y="245155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9" name="Robbanás: 8 ágú 8">
            <a:extLst>
              <a:ext uri="{FF2B5EF4-FFF2-40B4-BE49-F238E27FC236}">
                <a16:creationId xmlns:a16="http://schemas.microsoft.com/office/drawing/2014/main" id="{98502E49-0F64-4EB7-B87D-312ABEF9B054}"/>
              </a:ext>
            </a:extLst>
          </p:cNvPr>
          <p:cNvSpPr/>
          <p:nvPr userDrawn="1"/>
        </p:nvSpPr>
        <p:spPr>
          <a:xfrm>
            <a:off x="11212382" y="1113556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10" name="Robbanás: 8 ágú 9">
            <a:extLst>
              <a:ext uri="{FF2B5EF4-FFF2-40B4-BE49-F238E27FC236}">
                <a16:creationId xmlns:a16="http://schemas.microsoft.com/office/drawing/2014/main" id="{D4186FF9-B4CD-4D55-9A80-6FBF50467D3A}"/>
              </a:ext>
            </a:extLst>
          </p:cNvPr>
          <p:cNvSpPr/>
          <p:nvPr userDrawn="1"/>
        </p:nvSpPr>
        <p:spPr>
          <a:xfrm>
            <a:off x="10356706" y="51918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11" name="Robbanás: 8 ágú 10">
            <a:extLst>
              <a:ext uri="{FF2B5EF4-FFF2-40B4-BE49-F238E27FC236}">
                <a16:creationId xmlns:a16="http://schemas.microsoft.com/office/drawing/2014/main" id="{3CDF2714-F1DE-405B-980D-479CACD86FDC}"/>
              </a:ext>
            </a:extLst>
          </p:cNvPr>
          <p:cNvSpPr/>
          <p:nvPr userDrawn="1"/>
        </p:nvSpPr>
        <p:spPr>
          <a:xfrm>
            <a:off x="10246404" y="677542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13" name="Robbanás: 8 ágú 12">
            <a:extLst>
              <a:ext uri="{FF2B5EF4-FFF2-40B4-BE49-F238E27FC236}">
                <a16:creationId xmlns:a16="http://schemas.microsoft.com/office/drawing/2014/main" id="{E47DE20B-830A-47EE-B00E-F487FE5C8C2E}"/>
              </a:ext>
            </a:extLst>
          </p:cNvPr>
          <p:cNvSpPr/>
          <p:nvPr userDrawn="1"/>
        </p:nvSpPr>
        <p:spPr>
          <a:xfrm>
            <a:off x="11601687" y="677542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14" name="Robbanás: 8 ágú 13">
            <a:extLst>
              <a:ext uri="{FF2B5EF4-FFF2-40B4-BE49-F238E27FC236}">
                <a16:creationId xmlns:a16="http://schemas.microsoft.com/office/drawing/2014/main" id="{1D52BD99-2D4D-4AAB-B842-3D5FCCD06437}"/>
              </a:ext>
            </a:extLst>
          </p:cNvPr>
          <p:cNvSpPr/>
          <p:nvPr userDrawn="1"/>
        </p:nvSpPr>
        <p:spPr>
          <a:xfrm>
            <a:off x="10820260" y="650328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noFill/>
            </a:endParaRPr>
          </a:p>
        </p:txBody>
      </p:sp>
      <p:sp>
        <p:nvSpPr>
          <p:cNvPr id="15" name="Robbanás: 8 ágú 14">
            <a:extLst>
              <a:ext uri="{FF2B5EF4-FFF2-40B4-BE49-F238E27FC236}">
                <a16:creationId xmlns:a16="http://schemas.microsoft.com/office/drawing/2014/main" id="{76B43361-824B-4B12-9706-38EFA47D5726}"/>
              </a:ext>
            </a:extLst>
          </p:cNvPr>
          <p:cNvSpPr/>
          <p:nvPr userDrawn="1"/>
        </p:nvSpPr>
        <p:spPr>
          <a:xfrm>
            <a:off x="11102673" y="255673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16" name="Robbanás: 8 ágú 15">
            <a:extLst>
              <a:ext uri="{FF2B5EF4-FFF2-40B4-BE49-F238E27FC236}">
                <a16:creationId xmlns:a16="http://schemas.microsoft.com/office/drawing/2014/main" id="{C031C197-8161-4071-91E6-9FC4D45CF004}"/>
              </a:ext>
            </a:extLst>
          </p:cNvPr>
          <p:cNvSpPr/>
          <p:nvPr userDrawn="1"/>
        </p:nvSpPr>
        <p:spPr>
          <a:xfrm>
            <a:off x="11707599" y="51918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17" name="Robbanás: 8 ágú 16">
            <a:extLst>
              <a:ext uri="{FF2B5EF4-FFF2-40B4-BE49-F238E27FC236}">
                <a16:creationId xmlns:a16="http://schemas.microsoft.com/office/drawing/2014/main" id="{888E23C9-EA97-47B8-8029-6CBD649B10DE}"/>
              </a:ext>
            </a:extLst>
          </p:cNvPr>
          <p:cNvSpPr/>
          <p:nvPr userDrawn="1"/>
        </p:nvSpPr>
        <p:spPr>
          <a:xfrm>
            <a:off x="9181345" y="51917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  <p:sp>
        <p:nvSpPr>
          <p:cNvPr id="18" name="Robbanás: 8 ágú 17">
            <a:extLst>
              <a:ext uri="{FF2B5EF4-FFF2-40B4-BE49-F238E27FC236}">
                <a16:creationId xmlns:a16="http://schemas.microsoft.com/office/drawing/2014/main" id="{7130A169-C2BE-45EA-A0B1-FD7CD11BCC80}"/>
              </a:ext>
            </a:extLst>
          </p:cNvPr>
          <p:cNvSpPr/>
          <p:nvPr userDrawn="1"/>
        </p:nvSpPr>
        <p:spPr>
          <a:xfrm>
            <a:off x="11777219" y="1498146"/>
            <a:ext cx="351064" cy="318407"/>
          </a:xfrm>
          <a:prstGeom prst="irregularSeal1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2723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CD9636-236A-4183-9BBA-5B162D3889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solidFill>
                  <a:schemeClr val="accent6"/>
                </a:solidFill>
              </a:rPr>
              <a:t>A </a:t>
            </a:r>
            <a:r>
              <a:rPr lang="hu-HU" dirty="0" err="1">
                <a:solidFill>
                  <a:schemeClr val="accent6"/>
                </a:solidFill>
              </a:rPr>
              <a:t>Quarter</a:t>
            </a:r>
            <a:r>
              <a:rPr lang="hu-HU" dirty="0">
                <a:solidFill>
                  <a:schemeClr val="accent6"/>
                </a:solidFill>
              </a:rPr>
              <a:t> </a:t>
            </a:r>
            <a:r>
              <a:rPr lang="hu-HU" dirty="0" err="1">
                <a:solidFill>
                  <a:schemeClr val="accent6"/>
                </a:solidFill>
              </a:rPr>
              <a:t>Fitness</a:t>
            </a:r>
            <a:r>
              <a:rPr lang="hu-HU" dirty="0">
                <a:solidFill>
                  <a:schemeClr val="accent6"/>
                </a:solidFill>
              </a:rPr>
              <a:t> Projekt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80EC9A6-982C-4DA1-90DB-DD63A1CC7E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Tagok:</a:t>
            </a:r>
          </a:p>
          <a:p>
            <a:r>
              <a:rPr lang="hu-H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Süli Szilveszter </a:t>
            </a:r>
          </a:p>
          <a:p>
            <a:r>
              <a:rPr lang="hu-H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Fehérvári László Márk</a:t>
            </a:r>
          </a:p>
          <a:p>
            <a:r>
              <a:rPr lang="hu-H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Ábrahám </a:t>
            </a:r>
            <a:r>
              <a:rPr lang="hu-HU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Tandari</a:t>
            </a:r>
            <a:r>
              <a:rPr lang="hu-HU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Roland</a:t>
            </a:r>
            <a:br>
              <a:rPr lang="hu-HU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br>
              <a:rPr lang="hu-HU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hu-HU" b="1" i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Projekt munka prezentáció</a:t>
            </a:r>
          </a:p>
          <a:p>
            <a:endParaRPr lang="hu-HU" b="1" i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41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78390F-FFE8-45CC-A75F-89F9A7BD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rgbClr val="FF0000"/>
                </a:solidFill>
              </a:rPr>
              <a:t>A Projekt tagjai</a:t>
            </a:r>
          </a:p>
        </p:txBody>
      </p:sp>
      <p:graphicFrame>
        <p:nvGraphicFramePr>
          <p:cNvPr id="4" name="Táblázat 4">
            <a:extLst>
              <a:ext uri="{FF2B5EF4-FFF2-40B4-BE49-F238E27FC236}">
                <a16:creationId xmlns:a16="http://schemas.microsoft.com/office/drawing/2014/main" id="{F02B0228-2947-4DFC-BA4D-6DEE34B93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955004"/>
              </p:ext>
            </p:extLst>
          </p:nvPr>
        </p:nvGraphicFramePr>
        <p:xfrm>
          <a:off x="914400" y="3065929"/>
          <a:ext cx="10353675" cy="1736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345095344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86411553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99864225"/>
                    </a:ext>
                  </a:extLst>
                </a:gridCol>
              </a:tblGrid>
              <a:tr h="411181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Süli Szilveszter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hu-HU" sz="18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Fehérvári László Márk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Ábrahám-</a:t>
                      </a:r>
                      <a:r>
                        <a:rPr lang="hu-HU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Tandari</a:t>
                      </a:r>
                      <a:r>
                        <a:rPr lang="hu-HU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Roland</a:t>
                      </a:r>
                    </a:p>
                  </a:txBody>
                  <a:tcPr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203463"/>
                  </a:ext>
                </a:extLst>
              </a:tr>
              <a:tr h="411181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Frontend program írás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Képek kikeresése/elhelyezése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Külalak szerkesztése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064839"/>
                  </a:ext>
                </a:extLst>
              </a:tr>
              <a:tr h="719567"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Projekt szerkezet tervezés,</a:t>
                      </a:r>
                    </a:p>
                    <a:p>
                      <a:pPr algn="ctr"/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Tesztelés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Backend program írás,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dokumentáció</a:t>
                      </a:r>
                    </a:p>
                    <a:p>
                      <a:pPr algn="ctr"/>
                      <a:endParaRPr lang="hu-HU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Szöveges anyag létrehozás,</a:t>
                      </a:r>
                    </a:p>
                    <a:p>
                      <a:pPr algn="ctr"/>
                      <a:r>
                        <a:rPr lang="hu-HU" dirty="0">
                          <a:solidFill>
                            <a:schemeClr val="bg1">
                              <a:lumMod val="75000"/>
                              <a:lumOff val="25000"/>
                            </a:schemeClr>
                          </a:solidFill>
                        </a:rPr>
                        <a:t>Kép szerkesztés/létrehozás</a:t>
                      </a:r>
                    </a:p>
                  </a:txBody>
                  <a:tcP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48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87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7BB462-8EC9-41AF-A01A-133F9F911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83079"/>
            <a:ext cx="10353761" cy="1326321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0000"/>
                </a:solidFill>
              </a:rPr>
              <a:t>A Projekt szakaszai</a:t>
            </a:r>
          </a:p>
        </p:txBody>
      </p:sp>
      <p:cxnSp>
        <p:nvCxnSpPr>
          <p:cNvPr id="5" name="Egyenes összekötő nyíllal 4">
            <a:extLst>
              <a:ext uri="{FF2B5EF4-FFF2-40B4-BE49-F238E27FC236}">
                <a16:creationId xmlns:a16="http://schemas.microsoft.com/office/drawing/2014/main" id="{60FD99B0-8751-4FD5-8113-03CB591E52FA}"/>
              </a:ext>
            </a:extLst>
          </p:cNvPr>
          <p:cNvCxnSpPr/>
          <p:nvPr/>
        </p:nvCxnSpPr>
        <p:spPr>
          <a:xfrm>
            <a:off x="1732546" y="3609474"/>
            <a:ext cx="8856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E62017B7-9520-498F-AEFA-E672EBA43462}"/>
              </a:ext>
            </a:extLst>
          </p:cNvPr>
          <p:cNvCxnSpPr/>
          <p:nvPr/>
        </p:nvCxnSpPr>
        <p:spPr>
          <a:xfrm>
            <a:off x="1741067" y="3418974"/>
            <a:ext cx="0" cy="34891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6C80AE17-4498-4BC4-BF76-01E6FAF3FD53}"/>
              </a:ext>
            </a:extLst>
          </p:cNvPr>
          <p:cNvCxnSpPr/>
          <p:nvPr/>
        </p:nvCxnSpPr>
        <p:spPr>
          <a:xfrm>
            <a:off x="3617996" y="3461389"/>
            <a:ext cx="0" cy="356937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Szövegdoboz 9">
            <a:extLst>
              <a:ext uri="{FF2B5EF4-FFF2-40B4-BE49-F238E27FC236}">
                <a16:creationId xmlns:a16="http://schemas.microsoft.com/office/drawing/2014/main" id="{B669A014-D34E-4382-8F99-70146ADD8D10}"/>
              </a:ext>
            </a:extLst>
          </p:cNvPr>
          <p:cNvSpPr txBox="1"/>
          <p:nvPr/>
        </p:nvSpPr>
        <p:spPr>
          <a:xfrm>
            <a:off x="1228726" y="3090864"/>
            <a:ext cx="9133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050" dirty="0"/>
              <a:t>Szept. 1-30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2D44951-2165-4B74-8DE9-4B82250A636B}"/>
              </a:ext>
            </a:extLst>
          </p:cNvPr>
          <p:cNvSpPr txBox="1"/>
          <p:nvPr/>
        </p:nvSpPr>
        <p:spPr>
          <a:xfrm>
            <a:off x="1147009" y="3777916"/>
            <a:ext cx="117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900" dirty="0"/>
              <a:t>Ötletelés a projekt témájáról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FC4A8C4-B13A-4205-95BD-B274AA45D638}"/>
              </a:ext>
            </a:extLst>
          </p:cNvPr>
          <p:cNvSpPr txBox="1"/>
          <p:nvPr/>
        </p:nvSpPr>
        <p:spPr>
          <a:xfrm>
            <a:off x="3035467" y="3148432"/>
            <a:ext cx="12432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/>
              <a:t>Okt. 1-Dec. 14</a:t>
            </a:r>
            <a:r>
              <a:rPr lang="hu-HU" sz="900" dirty="0"/>
              <a:t>.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3F0CF6D0-6BFC-4CF7-ACCA-1BCB520C3E29}"/>
              </a:ext>
            </a:extLst>
          </p:cNvPr>
          <p:cNvSpPr txBox="1"/>
          <p:nvPr/>
        </p:nvSpPr>
        <p:spPr>
          <a:xfrm>
            <a:off x="2996364" y="3818326"/>
            <a:ext cx="1243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900" dirty="0"/>
              <a:t>Frontend megtervezése</a:t>
            </a:r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A0F7D96F-9A6C-4F90-AED3-09CB91E81C66}"/>
              </a:ext>
            </a:extLst>
          </p:cNvPr>
          <p:cNvCxnSpPr/>
          <p:nvPr/>
        </p:nvCxnSpPr>
        <p:spPr>
          <a:xfrm>
            <a:off x="5465344" y="3454122"/>
            <a:ext cx="0" cy="34891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8DE2B499-884E-442B-B03F-869FC93A5226}"/>
              </a:ext>
            </a:extLst>
          </p:cNvPr>
          <p:cNvSpPr txBox="1"/>
          <p:nvPr/>
        </p:nvSpPr>
        <p:spPr>
          <a:xfrm>
            <a:off x="4958395" y="3185079"/>
            <a:ext cx="21015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00" dirty="0"/>
              <a:t>Jan. 6 -Márc. 8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D67DF796-F973-45F9-A0B2-51F951224DBF}"/>
              </a:ext>
            </a:extLst>
          </p:cNvPr>
          <p:cNvSpPr txBox="1"/>
          <p:nvPr/>
        </p:nvSpPr>
        <p:spPr>
          <a:xfrm>
            <a:off x="4680789" y="3814817"/>
            <a:ext cx="162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900" dirty="0"/>
              <a:t>Backend létrehozása/szerkesztése</a:t>
            </a:r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D4F545B6-9FDA-4629-86BA-91C297DE5BA9}"/>
              </a:ext>
            </a:extLst>
          </p:cNvPr>
          <p:cNvCxnSpPr/>
          <p:nvPr/>
        </p:nvCxnSpPr>
        <p:spPr>
          <a:xfrm>
            <a:off x="7595435" y="3461389"/>
            <a:ext cx="0" cy="34891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CC0F7038-7112-4186-B3F9-DD1339F11C31}"/>
              </a:ext>
            </a:extLst>
          </p:cNvPr>
          <p:cNvSpPr txBox="1"/>
          <p:nvPr/>
        </p:nvSpPr>
        <p:spPr>
          <a:xfrm>
            <a:off x="7111120" y="3250037"/>
            <a:ext cx="16603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00" dirty="0"/>
              <a:t>Márc. 10-Ápr. 12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915D0E85-76BC-45CD-86E3-5F6388896971}"/>
              </a:ext>
            </a:extLst>
          </p:cNvPr>
          <p:cNvSpPr txBox="1"/>
          <p:nvPr/>
        </p:nvSpPr>
        <p:spPr>
          <a:xfrm>
            <a:off x="8717581" y="3799975"/>
            <a:ext cx="1232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900" dirty="0"/>
              <a:t>Dokumentálás/apró simítások</a:t>
            </a:r>
          </a:p>
        </p:txBody>
      </p:sp>
      <p:cxnSp>
        <p:nvCxnSpPr>
          <p:cNvPr id="21" name="Egyenes összekötő 20">
            <a:extLst>
              <a:ext uri="{FF2B5EF4-FFF2-40B4-BE49-F238E27FC236}">
                <a16:creationId xmlns:a16="http://schemas.microsoft.com/office/drawing/2014/main" id="{AC1CE3CD-D4EE-4E9F-AF2E-E13D04820C75}"/>
              </a:ext>
            </a:extLst>
          </p:cNvPr>
          <p:cNvCxnSpPr/>
          <p:nvPr/>
        </p:nvCxnSpPr>
        <p:spPr>
          <a:xfrm>
            <a:off x="9388857" y="3454122"/>
            <a:ext cx="0" cy="348916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Szövegdoboz 2">
            <a:extLst>
              <a:ext uri="{FF2B5EF4-FFF2-40B4-BE49-F238E27FC236}">
                <a16:creationId xmlns:a16="http://schemas.microsoft.com/office/drawing/2014/main" id="{AD85B459-B4B0-4FF2-A958-D77D727ECC8C}"/>
              </a:ext>
            </a:extLst>
          </p:cNvPr>
          <p:cNvSpPr txBox="1"/>
          <p:nvPr/>
        </p:nvSpPr>
        <p:spPr>
          <a:xfrm>
            <a:off x="9047890" y="3250037"/>
            <a:ext cx="1355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900" dirty="0"/>
              <a:t>Ápr. 15-22</a:t>
            </a:r>
          </a:p>
          <a:p>
            <a:endParaRPr lang="hu-HU" sz="900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01C61F2-CE98-40FA-AC02-8EA2DE95013C}"/>
              </a:ext>
            </a:extLst>
          </p:cNvPr>
          <p:cNvSpPr txBox="1"/>
          <p:nvPr/>
        </p:nvSpPr>
        <p:spPr>
          <a:xfrm>
            <a:off x="6872954" y="3884067"/>
            <a:ext cx="14449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900" dirty="0"/>
              <a:t>Tesztelések</a:t>
            </a:r>
          </a:p>
        </p:txBody>
      </p:sp>
    </p:spTree>
    <p:extLst>
      <p:ext uri="{BB962C8B-B14F-4D97-AF65-F5344CB8AC3E}">
        <p14:creationId xmlns:p14="http://schemas.microsoft.com/office/powerpoint/2010/main" val="1669020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ím 9">
            <a:extLst>
              <a:ext uri="{FF2B5EF4-FFF2-40B4-BE49-F238E27FC236}">
                <a16:creationId xmlns:a16="http://schemas.microsoft.com/office/drawing/2014/main" id="{5D67AB6F-DEE5-4D13-8692-4B844F22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Az oldalunkról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BAFFC20-3C63-4544-BA24-517E634DB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4138" y="2340378"/>
            <a:ext cx="6189662" cy="2958294"/>
          </a:xfrm>
        </p:spPr>
      </p:pic>
      <p:sp>
        <p:nvSpPr>
          <p:cNvPr id="11" name="Szöveg helye 10">
            <a:extLst>
              <a:ext uri="{FF2B5EF4-FFF2-40B4-BE49-F238E27FC236}">
                <a16:creationId xmlns:a16="http://schemas.microsoft.com/office/drawing/2014/main" id="{83396B89-3A1A-4C08-8165-11CEF5920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b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Edzőtermi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oldalunk felhasználóbarát egyszerűen kezelhető, átlátható oldal amely könnyű segítséget nyújt akár testépítés, lefogyás, vagy akár csak egy egészséges életmód megvalósításában.</a:t>
            </a:r>
          </a:p>
        </p:txBody>
      </p:sp>
    </p:spTree>
    <p:extLst>
      <p:ext uri="{BB962C8B-B14F-4D97-AF65-F5344CB8AC3E}">
        <p14:creationId xmlns:p14="http://schemas.microsoft.com/office/powerpoint/2010/main" val="2335856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D3D5163-B450-45E0-B88A-412A31B9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Programozáshoz használt </a:t>
            </a:r>
            <a:r>
              <a:rPr lang="hu-HU" dirty="0" err="1"/>
              <a:t>stack</a:t>
            </a:r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3DFF282-2753-46D5-BFF6-76802346DA30}"/>
              </a:ext>
            </a:extLst>
          </p:cNvPr>
          <p:cNvSpPr txBox="1"/>
          <p:nvPr/>
        </p:nvSpPr>
        <p:spPr>
          <a:xfrm>
            <a:off x="1156447" y="3030071"/>
            <a:ext cx="220531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weboldalhoz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tartozó adatok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tárolására a</a:t>
            </a:r>
          </a:p>
          <a:p>
            <a:pPr algn="ctr"/>
            <a:r>
              <a:rPr lang="hu-HU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lang="hu-HU" sz="16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hu-HU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adatbáziskezelő alkalmazást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alkalmaztuk az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egyszerű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kezelhetősége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miatt.</a:t>
            </a: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B4C2018D-ECA9-49CD-8C32-859EAF8AB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54" y="2088735"/>
            <a:ext cx="2922703" cy="78852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305D2D8F-04A3-4E75-BE66-7DCABDA49A04}"/>
              </a:ext>
            </a:extLst>
          </p:cNvPr>
          <p:cNvSpPr txBox="1"/>
          <p:nvPr/>
        </p:nvSpPr>
        <p:spPr>
          <a:xfrm>
            <a:off x="4419600" y="3030071"/>
            <a:ext cx="167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 </a:t>
            </a:r>
            <a:r>
              <a:rPr lang="en-US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oldalunk</a:t>
            </a:r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frontend része</a:t>
            </a: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 algn="ctr"/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JS</a:t>
            </a:r>
          </a:p>
          <a:p>
            <a:pPr algn="ctr"/>
            <a:r>
              <a:rPr lang="en-US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keretrendszer</a:t>
            </a:r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endParaRPr lang="en-US" sz="16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épül</a:t>
            </a: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itt</a:t>
            </a: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tudtuk</a:t>
            </a:r>
            <a:endParaRPr lang="en-US" sz="16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létrehozni</a:t>
            </a: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 algn="ctr"/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UI(User Interface)</a:t>
            </a:r>
          </a:p>
          <a:p>
            <a:pPr algn="ctr"/>
            <a:r>
              <a:rPr lang="en-US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elemeket</a:t>
            </a:r>
            <a:endParaRPr lang="hu-HU" sz="16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B300286-0C81-408C-978D-872AAA6E1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331" y="2094069"/>
            <a:ext cx="2002005" cy="936002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244987D5-91A3-4B70-B1F4-B0112FDAC9CC}"/>
              </a:ext>
            </a:extLst>
          </p:cNvPr>
          <p:cNvSpPr txBox="1"/>
          <p:nvPr/>
        </p:nvSpPr>
        <p:spPr>
          <a:xfrm>
            <a:off x="7084902" y="3030071"/>
            <a:ext cx="1732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hu-HU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JS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futtatókörnyezet tette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lehetővé a szerver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oldali feladatok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elvégzését.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A6D93478-2AB6-49A3-BD66-DFAEEF2CC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105" y="2078160"/>
            <a:ext cx="1554141" cy="95191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8F443A5B-05DE-4E4B-9783-729693A9ADD4}"/>
              </a:ext>
            </a:extLst>
          </p:cNvPr>
          <p:cNvSpPr txBox="1"/>
          <p:nvPr/>
        </p:nvSpPr>
        <p:spPr>
          <a:xfrm>
            <a:off x="9767219" y="3030071"/>
            <a:ext cx="14758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 Express JS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használatával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tudtuk kezelni a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lekéréseket</a:t>
            </a:r>
          </a:p>
          <a:p>
            <a:pPr algn="ctr"/>
            <a:r>
              <a:rPr lang="hu-HU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és az API-kat.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30119515-8F75-4FB5-B9EB-CFE4FDE916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893" y="2088735"/>
            <a:ext cx="2250872" cy="645328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392250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FA6FC0-FEF6-454F-9380-E529FBB3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oldalunk!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320BD4A9-E862-4C59-9772-3E1A51B5A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0085" y="2013857"/>
            <a:ext cx="7104247" cy="3695700"/>
          </a:xfr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1E10B208-F70F-42B8-9119-50B45724C54E}"/>
              </a:ext>
            </a:extLst>
          </p:cNvPr>
          <p:cNvSpPr txBox="1"/>
          <p:nvPr/>
        </p:nvSpPr>
        <p:spPr>
          <a:xfrm>
            <a:off x="587829" y="2613756"/>
            <a:ext cx="28738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dirty="0"/>
              <a:t>A Backend oldalunk teszi lehetővé azt, hogy az edzőinket, és a hozzájuk történő feliratkozásokat egyaránt könnyedén tudjuk átláthatóan rendszerezni és eltárolni vagy kezelni.</a:t>
            </a:r>
          </a:p>
        </p:txBody>
      </p:sp>
    </p:spTree>
    <p:extLst>
      <p:ext uri="{BB962C8B-B14F-4D97-AF65-F5344CB8AC3E}">
        <p14:creationId xmlns:p14="http://schemas.microsoft.com/office/powerpoint/2010/main" val="443431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E7A5D4-593D-4675-ACC7-1E24360F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Bejelentkezés/regisztráció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A70D0B3-48B1-46DB-B569-EF2189048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2033" y="2191753"/>
            <a:ext cx="4008642" cy="3695700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4DEEB53-3850-4E21-A3B6-11F98BAE6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931" y="2191753"/>
            <a:ext cx="2861359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17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57407A-E801-4C2A-A571-41819069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Reszponzivitás</a:t>
            </a:r>
            <a:endParaRPr lang="hu-HU"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541ADBD-2051-4BC2-93B5-0C9BAD076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034" y="1935921"/>
            <a:ext cx="1756680" cy="3695700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22C7C2B-6E45-4D20-918E-F289D20A1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961" y="1935921"/>
            <a:ext cx="1620706" cy="36957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4F8D67B4-3B3A-401A-9B2C-836E7921B6E2}"/>
              </a:ext>
            </a:extLst>
          </p:cNvPr>
          <p:cNvSpPr txBox="1"/>
          <p:nvPr/>
        </p:nvSpPr>
        <p:spPr>
          <a:xfrm>
            <a:off x="4798227" y="2551837"/>
            <a:ext cx="1989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ahnschrift Light SemiCondensed" panose="020B0502040204020203" pitchFamily="34" charset="0"/>
              </a:rPr>
              <a:t>Oldalunk ilyen módon telefonos formában is teljesen jól kezelhető és felhasználóbarát.</a:t>
            </a:r>
          </a:p>
        </p:txBody>
      </p:sp>
    </p:spTree>
    <p:extLst>
      <p:ext uri="{BB962C8B-B14F-4D97-AF65-F5344CB8AC3E}">
        <p14:creationId xmlns:p14="http://schemas.microsoft.com/office/powerpoint/2010/main" val="3715323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>
            <a:extLst>
              <a:ext uri="{FF2B5EF4-FFF2-40B4-BE49-F238E27FC236}">
                <a16:creationId xmlns:a16="http://schemas.microsoft.com/office/drawing/2014/main" id="{C440858E-F7BF-4BC9-967D-4D010E31C130}"/>
              </a:ext>
            </a:extLst>
          </p:cNvPr>
          <p:cNvSpPr/>
          <p:nvPr/>
        </p:nvSpPr>
        <p:spPr>
          <a:xfrm>
            <a:off x="2852694" y="1828800"/>
            <a:ext cx="3237981" cy="222885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3">
            <a:extLst>
              <a:ext uri="{FF2B5EF4-FFF2-40B4-BE49-F238E27FC236}">
                <a16:creationId xmlns:a16="http://schemas.microsoft.com/office/drawing/2014/main" id="{46D8BC16-6AF7-4F31-8C37-82205B25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S.w.o.t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E25E98FA-6F1F-4054-A0CA-B02A2C625B51}"/>
              </a:ext>
            </a:extLst>
          </p:cNvPr>
          <p:cNvSpPr/>
          <p:nvPr/>
        </p:nvSpPr>
        <p:spPr>
          <a:xfrm>
            <a:off x="2852693" y="4057650"/>
            <a:ext cx="3237981" cy="21907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D4BD8AC-73D1-4875-96B5-FAA9A08306D8}"/>
              </a:ext>
            </a:extLst>
          </p:cNvPr>
          <p:cNvSpPr txBox="1"/>
          <p:nvPr/>
        </p:nvSpPr>
        <p:spPr>
          <a:xfrm>
            <a:off x="2852693" y="1828800"/>
            <a:ext cx="3237981" cy="2669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Erősségek(</a:t>
            </a:r>
            <a:r>
              <a:rPr lang="hu-HU" sz="1600" b="1" i="0" dirty="0" err="1">
                <a:solidFill>
                  <a:srgbClr val="002060"/>
                </a:solidFill>
                <a:effectLst/>
                <a:latin typeface="Google Sans"/>
              </a:rPr>
              <a:t>Strengths</a:t>
            </a: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hu-HU" sz="24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05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Felhasználóbarát felület, modern dizájn.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hu-HU" sz="105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05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Adatbázis-alapú időpont kezelés.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hu-HU" sz="105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05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elérhetőség.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hu-HU" sz="105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05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Rugalmas időpont egyeztetés.</a:t>
            </a:r>
          </a:p>
          <a:p>
            <a:endParaRPr lang="hu-HU" sz="1800" dirty="0"/>
          </a:p>
          <a:p>
            <a:endParaRPr lang="hu-HU" sz="1800" dirty="0"/>
          </a:p>
          <a:p>
            <a:endParaRPr lang="hu-HU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70A6737F-8B3D-467C-8EFC-6ACA81D0C855}"/>
              </a:ext>
            </a:extLst>
          </p:cNvPr>
          <p:cNvSpPr txBox="1"/>
          <p:nvPr/>
        </p:nvSpPr>
        <p:spPr>
          <a:xfrm>
            <a:off x="2852693" y="4057650"/>
            <a:ext cx="316710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Gyengeségek(</a:t>
            </a:r>
            <a:r>
              <a:rPr lang="hu-HU" sz="1600" b="1" i="0" dirty="0" err="1">
                <a:solidFill>
                  <a:srgbClr val="002060"/>
                </a:solidFill>
                <a:effectLst/>
                <a:latin typeface="Google Sans"/>
              </a:rPr>
              <a:t>Weaknesses</a:t>
            </a: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hu-HU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Folyamatos karbantartási és fejlesztési igény.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hu-HU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 optimalizáció további fejlesztésre szorulhat a jövőben.</a:t>
            </a:r>
          </a:p>
          <a:p>
            <a:endParaRPr lang="hu-HU" dirty="0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37F9A974-1875-4B97-9D85-D02DD2087A69}"/>
              </a:ext>
            </a:extLst>
          </p:cNvPr>
          <p:cNvSpPr/>
          <p:nvPr/>
        </p:nvSpPr>
        <p:spPr>
          <a:xfrm>
            <a:off x="6090674" y="1828800"/>
            <a:ext cx="3100951" cy="2228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E4E178FF-8CDA-49DB-A2D1-41792920C730}"/>
              </a:ext>
            </a:extLst>
          </p:cNvPr>
          <p:cNvSpPr/>
          <p:nvPr/>
        </p:nvSpPr>
        <p:spPr>
          <a:xfrm>
            <a:off x="6090674" y="4057650"/>
            <a:ext cx="3100951" cy="219075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F5146EC-5D1E-482B-9E2B-E14ECAFF8852}"/>
              </a:ext>
            </a:extLst>
          </p:cNvPr>
          <p:cNvSpPr txBox="1"/>
          <p:nvPr/>
        </p:nvSpPr>
        <p:spPr>
          <a:xfrm>
            <a:off x="6101327" y="1828800"/>
            <a:ext cx="3090298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Veszélyek(</a:t>
            </a:r>
            <a:r>
              <a:rPr lang="hu-HU" sz="1600" b="1" i="0" dirty="0" err="1">
                <a:solidFill>
                  <a:srgbClr val="002060"/>
                </a:solidFill>
                <a:effectLst/>
                <a:latin typeface="Google Sans"/>
              </a:rPr>
              <a:t>Threats</a:t>
            </a: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>
              <a:buFont typeface="Wingdings" panose="05000000000000000000" pitchFamily="2" charset="2"/>
            </a:pPr>
            <a:endParaRPr lang="hu-HU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Erős piaci versengés a konkurens</a:t>
            </a:r>
          </a:p>
          <a:p>
            <a:pPr>
              <a:buFont typeface="Wingdings" panose="05000000000000000000" pitchFamily="2" charset="2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edzőtermekkel.</a:t>
            </a:r>
          </a:p>
          <a:p>
            <a:pPr>
              <a:buFont typeface="Wingdings" panose="05000000000000000000" pitchFamily="2" charset="2"/>
            </a:pPr>
            <a:endParaRPr lang="hu-HU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Technikai hibák és adatbiztonsági kockázatok.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hu-HU" sz="11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0AB21F6F-F4F3-4F77-8990-E8C497BA77AA}"/>
              </a:ext>
            </a:extLst>
          </p:cNvPr>
          <p:cNvSpPr txBox="1"/>
          <p:nvPr/>
        </p:nvSpPr>
        <p:spPr>
          <a:xfrm>
            <a:off x="6161548" y="4114800"/>
            <a:ext cx="30902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Lehetőségek(</a:t>
            </a:r>
            <a:r>
              <a:rPr lang="hu-HU" sz="1600" b="1" i="0" dirty="0" err="1">
                <a:solidFill>
                  <a:srgbClr val="002060"/>
                </a:solidFill>
                <a:effectLst/>
                <a:latin typeface="Google Sans"/>
              </a:rPr>
              <a:t>Opportunities</a:t>
            </a: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hu-HU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Időpont foglalások.</a:t>
            </a:r>
          </a:p>
          <a:p>
            <a:endParaRPr lang="hu-HU" sz="1600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hu-HU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Többnyelvű kommunikáció.</a:t>
            </a:r>
          </a:p>
        </p:txBody>
      </p:sp>
    </p:spTree>
    <p:extLst>
      <p:ext uri="{BB962C8B-B14F-4D97-AF65-F5344CB8AC3E}">
        <p14:creationId xmlns:p14="http://schemas.microsoft.com/office/powerpoint/2010/main" val="1661843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4F27C7-C816-4ACC-A645-F979C3AAB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393470"/>
            <a:ext cx="10353761" cy="1326321"/>
          </a:xfrm>
        </p:spPr>
        <p:txBody>
          <a:bodyPr/>
          <a:lstStyle/>
          <a:p>
            <a:r>
              <a:rPr lang="hu-HU" dirty="0"/>
              <a:t>Backend Tesztelés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3ED34902-5F12-4424-9B5D-F4A19F820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35" y="1935921"/>
            <a:ext cx="3745527" cy="413404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247F00F-BB0A-4617-80F5-DAB5372C7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073" y="1935921"/>
            <a:ext cx="5087992" cy="260289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0FF5C06-A462-4B3B-8C41-F745D75F2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570" y="1935921"/>
            <a:ext cx="254439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Bal oldali kódpanel: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Node</a:t>
            </a:r>
            <a:r>
              <a:rPr lang="hu-HU" altLang="hu-HU" sz="1200" dirty="0">
                <a:latin typeface="Arial" panose="020B0604020202020204" pitchFamily="34" charset="0"/>
                <a:cs typeface="Arial" panose="020B0604020202020204" pitchFamily="34" charset="0"/>
              </a:rPr>
              <a:t>.JS saját </a:t>
            </a:r>
            <a:r>
              <a:rPr lang="hu-HU" altLang="hu-HU" sz="1200" dirty="0" err="1">
                <a:latin typeface="Arial" panose="020B0604020202020204" pitchFamily="34" charset="0"/>
                <a:cs typeface="Arial" panose="020B0604020202020204" pitchFamily="34" charset="0"/>
              </a:rPr>
              <a:t>teszterével</a:t>
            </a:r>
            <a:r>
              <a:rPr lang="hu-HU" altLang="hu-HU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hu-HU" altLang="hu-HU" sz="1200" dirty="0" err="1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lang="hu-HU" altLang="hu-HU" sz="1200" dirty="0">
                <a:latin typeface="Arial" panose="020B0604020202020204" pitchFamily="34" charset="0"/>
                <a:cs typeface="Arial" panose="020B0604020202020204" pitchFamily="34" charset="0"/>
              </a:rPr>
              <a:t> Test </a:t>
            </a:r>
            <a:r>
              <a:rPr lang="hu-HU" altLang="hu-HU" sz="1200" dirty="0" err="1">
                <a:latin typeface="Arial" panose="020B0604020202020204" pitchFamily="34" charset="0"/>
                <a:cs typeface="Arial" panose="020B0604020202020204" pitchFamily="34" charset="0"/>
              </a:rPr>
              <a:t>Runner</a:t>
            </a:r>
            <a:r>
              <a:rPr lang="hu-HU" altLang="hu-HU" sz="1200" dirty="0">
                <a:latin typeface="Arial" panose="020B0604020202020204" pitchFamily="34" charset="0"/>
                <a:cs typeface="Arial" panose="020B0604020202020204" pitchFamily="34" charset="0"/>
              </a:rPr>
              <a:t>) készült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hu-HU" altLang="hu-H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integrációs teszt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látható. A kód egy virtuális szervert indít el, csatlakozik a 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MongoDB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adatbázishoz, majd egy szimulált bejelentkezési kérést küld (POST 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 szervernek a megadott tesztadatokkal. Az 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assert.equal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sor végül azt ellenőrzi, hogy a szerver valóban sikeres (200-as) választ küld-e vissza. 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AB1786E6-6106-4C8E-A324-74A8B9BF7B1B}"/>
              </a:ext>
            </a:extLst>
          </p:cNvPr>
          <p:cNvSpPr txBox="1"/>
          <p:nvPr/>
        </p:nvSpPr>
        <p:spPr>
          <a:xfrm>
            <a:off x="6090674" y="4570025"/>
            <a:ext cx="59154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400" b="1" dirty="0"/>
              <a:t>Jobb oldali terminálpanel:</a:t>
            </a:r>
            <a:r>
              <a:rPr lang="hu-HU" sz="1400" dirty="0"/>
              <a:t> Itt látható a teszt futtatásának eredménye. A rendszer naplózza a sikeres adatbázis-csatlakozást, majd kiírja a szervertől kapott választ (a bejelentkezett felhasználó adatait JSON formátumban). A zöld pipák jelzik, hogy a tesztek hiba nélkül lefutottak.</a:t>
            </a:r>
          </a:p>
        </p:txBody>
      </p:sp>
    </p:spTree>
    <p:extLst>
      <p:ext uri="{BB962C8B-B14F-4D97-AF65-F5344CB8AC3E}">
        <p14:creationId xmlns:p14="http://schemas.microsoft.com/office/powerpoint/2010/main" val="195112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F54D14-4B26-4C0D-8BEB-A8D812988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 Tesztelés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6CA2893-A0F2-4645-A2BB-1F29933FA6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422" y="2052203"/>
            <a:ext cx="5225479" cy="2460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7CDD6442-D194-4587-BA8E-5E6441DFB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252" y="3873273"/>
            <a:ext cx="6130620" cy="2658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0E35F4D3-5F2D-4783-B617-7FC70A33D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901" y="2442118"/>
            <a:ext cx="543000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Jobb alsó kódpanel: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Itt látható a konkrét teszt 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szkript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(JavaScript/</a:t>
            </a:r>
            <a:r>
              <a:rPr kumimoji="0" lang="hu-HU" altLang="hu-H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Cypress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amely sorrendben kiadja az utasításokat: megnyitja a főoldalt, rákattint a bejelentkezés gombra,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majd automatikusan kitölti az email (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pepe@gmail.com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és a jelszó mezőket. </a:t>
            </a:r>
            <a:endParaRPr kumimoji="0" lang="hu-HU" altLang="hu-H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91C40F0C-BE85-40DC-A5C0-DB94AF099FDB}"/>
              </a:ext>
            </a:extLst>
          </p:cNvPr>
          <p:cNvSpPr txBox="1"/>
          <p:nvPr/>
        </p:nvSpPr>
        <p:spPr>
          <a:xfrm>
            <a:off x="1031422" y="4748030"/>
            <a:ext cx="40066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200" b="1" dirty="0"/>
              <a:t>Bal oldali böngészőpanel:</a:t>
            </a:r>
            <a:r>
              <a:rPr lang="hu-HU" sz="1200" dirty="0"/>
              <a:t> Ez a </a:t>
            </a:r>
            <a:r>
              <a:rPr lang="hu-HU" sz="1200" dirty="0" err="1"/>
              <a:t>Cypress</a:t>
            </a:r>
            <a:r>
              <a:rPr lang="hu-HU" sz="1200" dirty="0"/>
              <a:t> interaktív futtatókörnyezete (Test </a:t>
            </a:r>
            <a:r>
              <a:rPr lang="hu-HU" sz="1200" dirty="0" err="1"/>
              <a:t>Runner</a:t>
            </a:r>
            <a:r>
              <a:rPr lang="hu-HU" sz="1200" dirty="0"/>
              <a:t>). A bal szélén a "Log" látható, ahol a keretrendszer pipával jelzi a sikeresen lefutott lépéseket, a jobb oldali ablakban pedig élőben látszódik az eredmény: a weboldal bejelentkező felülete a már beírt adatokkal.</a:t>
            </a:r>
          </a:p>
        </p:txBody>
      </p:sp>
    </p:spTree>
    <p:extLst>
      <p:ext uri="{BB962C8B-B14F-4D97-AF65-F5344CB8AC3E}">
        <p14:creationId xmlns:p14="http://schemas.microsoft.com/office/powerpoint/2010/main" val="275043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21A310-55E8-41F5-B755-B5322429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Időpont kezelési funkciók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23ECA24-D2CD-4D84-AF68-2668B0508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43" y="1759128"/>
            <a:ext cx="3214046" cy="2778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47E9B10-3476-4093-95BB-DF0D240E1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536" y="1759128"/>
            <a:ext cx="3174413" cy="2778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D005202-B994-4690-B537-EDEC46D97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689" y="1759128"/>
            <a:ext cx="3381847" cy="7478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60B445C-A2F8-4468-91D6-AFC4DCC704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689" y="2599898"/>
            <a:ext cx="3381847" cy="13800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EA560309-69B8-47F8-9496-0DF3BD250BE0}"/>
              </a:ext>
            </a:extLst>
          </p:cNvPr>
          <p:cNvSpPr txBox="1"/>
          <p:nvPr/>
        </p:nvSpPr>
        <p:spPr>
          <a:xfrm>
            <a:off x="2793104" y="4920066"/>
            <a:ext cx="60946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400" dirty="0">
                <a:latin typeface="Arial Narrow" panose="020B0606020202030204" pitchFamily="34" charset="0"/>
              </a:rPr>
              <a:t>Ez a kép a „</a:t>
            </a:r>
            <a:r>
              <a:rPr lang="hu-HU" sz="1400" dirty="0" err="1">
                <a:latin typeface="Arial Narrow" panose="020B0606020202030204" pitchFamily="34" charset="0"/>
              </a:rPr>
              <a:t>GymPower</a:t>
            </a:r>
            <a:r>
              <a:rPr lang="hu-HU" sz="1400" dirty="0">
                <a:latin typeface="Arial Narrow" panose="020B0606020202030204" pitchFamily="34" charset="0"/>
              </a:rPr>
              <a:t>” alkalmazás </a:t>
            </a:r>
            <a:r>
              <a:rPr lang="hu-HU" sz="1400" b="1" dirty="0">
                <a:latin typeface="Arial Narrow" panose="020B0606020202030204" pitchFamily="34" charset="0"/>
              </a:rPr>
              <a:t>időpontkezelési funkcióit</a:t>
            </a:r>
            <a:r>
              <a:rPr lang="hu-HU" sz="1400" dirty="0">
                <a:latin typeface="Arial Narrow" panose="020B0606020202030204" pitchFamily="34" charset="0"/>
              </a:rPr>
              <a:t> mutatja be, amelyeken keresztül a felhasználók személyi edzéseket foglalhatnak vagy mondhatnak le.</a:t>
            </a:r>
          </a:p>
          <a:p>
            <a:pPr algn="ctr"/>
            <a:r>
              <a:rPr lang="hu-HU" sz="1400" dirty="0">
                <a:latin typeface="Arial Narrow" panose="020B0606020202030204" pitchFamily="34" charset="0"/>
              </a:rPr>
              <a:t>A felületen látható egy edzői profil a szolgáltatások áraival, egy naptáras időpontfoglaló ablak, valamint a meglévő foglalások törlésére szolgáló megerősítő párbeszédpanel.</a:t>
            </a:r>
          </a:p>
        </p:txBody>
      </p:sp>
    </p:spTree>
    <p:extLst>
      <p:ext uri="{BB962C8B-B14F-4D97-AF65-F5344CB8AC3E}">
        <p14:creationId xmlns:p14="http://schemas.microsoft.com/office/powerpoint/2010/main" val="3272201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0F2E47-28E8-4CB0-8221-39AB2FC7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Személyes Profil </a:t>
            </a:r>
            <a:r>
              <a:rPr lang="hu-HU" dirty="0" err="1"/>
              <a:t>testreszabás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3CF4EFA-2CD8-4CA2-897B-6946497AE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96" y="1802861"/>
            <a:ext cx="8667728" cy="4984654"/>
          </a:xfrm>
          <a:prstGeom prst="rect">
            <a:avLst/>
          </a:prstGeom>
        </p:spPr>
      </p:pic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B41C3572-33DB-44EC-908B-842CFFBD7393}"/>
              </a:ext>
            </a:extLst>
          </p:cNvPr>
          <p:cNvCxnSpPr>
            <a:cxnSpLocks/>
          </p:cNvCxnSpPr>
          <p:nvPr/>
        </p:nvCxnSpPr>
        <p:spPr>
          <a:xfrm>
            <a:off x="4244340" y="2170955"/>
            <a:ext cx="4625340" cy="363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512F303B-CE3A-4EE8-BF53-744AC1674C38}"/>
              </a:ext>
            </a:extLst>
          </p:cNvPr>
          <p:cNvSpPr txBox="1"/>
          <p:nvPr/>
        </p:nvSpPr>
        <p:spPr>
          <a:xfrm rot="264563">
            <a:off x="6868044" y="2168723"/>
            <a:ext cx="1247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/>
              <a:t>Profil ikonok</a:t>
            </a:r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C0E29225-4626-4A17-826A-DE4B8B9DD9CA}"/>
              </a:ext>
            </a:extLst>
          </p:cNvPr>
          <p:cNvSpPr/>
          <p:nvPr/>
        </p:nvSpPr>
        <p:spPr>
          <a:xfrm>
            <a:off x="3162300" y="2019300"/>
            <a:ext cx="1005840" cy="303311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FCA945D5-7527-4195-8E63-6994628866DE}"/>
              </a:ext>
            </a:extLst>
          </p:cNvPr>
          <p:cNvSpPr txBox="1"/>
          <p:nvPr/>
        </p:nvSpPr>
        <p:spPr>
          <a:xfrm>
            <a:off x="6858519" y="3455642"/>
            <a:ext cx="198897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100" dirty="0"/>
              <a:t>Ezen az oldalon lehetővé tesszük a felhasználóink számára, hogy a hozzájuk tartozó profilon megváltoztathassák a profilképüket/</a:t>
            </a:r>
            <a:r>
              <a:rPr lang="hu-HU" sz="1100" dirty="0" err="1"/>
              <a:t>avatarjukat</a:t>
            </a:r>
            <a:r>
              <a:rPr lang="hu-HU" sz="1100" dirty="0"/>
              <a:t> és, hogy ugyanitt módosítsák az időpontjaikat is.</a:t>
            </a:r>
          </a:p>
        </p:txBody>
      </p:sp>
    </p:spTree>
    <p:extLst>
      <p:ext uri="{BB962C8B-B14F-4D97-AF65-F5344CB8AC3E}">
        <p14:creationId xmlns:p14="http://schemas.microsoft.com/office/powerpoint/2010/main" val="1516371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2E72659-DB6B-4E20-9D91-5AA11D3E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642507"/>
            <a:ext cx="10353761" cy="1326321"/>
          </a:xfrm>
        </p:spPr>
        <p:txBody>
          <a:bodyPr/>
          <a:lstStyle/>
          <a:p>
            <a:r>
              <a:rPr lang="hu-HU" dirty="0"/>
              <a:t>KÖSZÖNJÜK A FIGYELMÜKET!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F1EFC05-AC9A-4115-A06D-1FBF7DA89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323" y="3968828"/>
            <a:ext cx="3167352" cy="53398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4A93AFA1-1581-4870-BA2E-4D8A9B40D695}"/>
              </a:ext>
            </a:extLst>
          </p:cNvPr>
          <p:cNvSpPr txBox="1"/>
          <p:nvPr/>
        </p:nvSpPr>
        <p:spPr>
          <a:xfrm>
            <a:off x="4512323" y="4502816"/>
            <a:ext cx="3167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en-US" b="1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hu-HU" b="1" i="1" dirty="0">
                <a:solidFill>
                  <a:schemeClr val="accent2">
                    <a:lumMod val="75000"/>
                  </a:schemeClr>
                </a:solidFill>
              </a:rPr>
              <a:t>„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power is within you.</a:t>
            </a:r>
            <a:r>
              <a:rPr lang="hu-HU" b="1" i="1" dirty="0"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”</a:t>
            </a:r>
            <a:endParaRPr lang="hu-HU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934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0</TotalTime>
  <Words>626</Words>
  <Application>Microsoft Office PowerPoint</Application>
  <PresentationFormat>Szélesvásznú</PresentationFormat>
  <Paragraphs>106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4" baseType="lpstr">
      <vt:lpstr>Arial</vt:lpstr>
      <vt:lpstr>Arial Narrow</vt:lpstr>
      <vt:lpstr>Arial Unicode MS</vt:lpstr>
      <vt:lpstr>Bahnschrift Light SemiCondensed</vt:lpstr>
      <vt:lpstr>Bookman Old Style</vt:lpstr>
      <vt:lpstr>Google Sans</vt:lpstr>
      <vt:lpstr>Rockwell</vt:lpstr>
      <vt:lpstr>Times New Roman</vt:lpstr>
      <vt:lpstr>Wingdings</vt:lpstr>
      <vt:lpstr>Damask</vt:lpstr>
      <vt:lpstr>A Quarter Fitness Projekt</vt:lpstr>
      <vt:lpstr>A Projekt tagjai</vt:lpstr>
      <vt:lpstr>A Projekt szakaszai</vt:lpstr>
      <vt:lpstr>Az oldalunkról</vt:lpstr>
      <vt:lpstr>Programozáshoz használt stack</vt:lpstr>
      <vt:lpstr>Backend oldalunk!</vt:lpstr>
      <vt:lpstr>Bejelentkezés/regisztráció</vt:lpstr>
      <vt:lpstr>Reszponzivitás</vt:lpstr>
      <vt:lpstr>S.w.o.t</vt:lpstr>
      <vt:lpstr>Backend Tesztelés</vt:lpstr>
      <vt:lpstr>Frontend Tesztelés</vt:lpstr>
      <vt:lpstr>Időpont kezelési funkciók</vt:lpstr>
      <vt:lpstr>Személyes Profil testreszabás</vt:lpstr>
      <vt:lpstr>KÖSZÖNJÜK A FIGYELMÜKET!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Quarter GYM Projekt</dc:title>
  <dc:creator>abraham-tandari.roland@szbiszeged.local</dc:creator>
  <cp:lastModifiedBy>Bodrogi Péter Róbert</cp:lastModifiedBy>
  <cp:revision>34</cp:revision>
  <dcterms:created xsi:type="dcterms:W3CDTF">2026-02-16T11:50:59Z</dcterms:created>
  <dcterms:modified xsi:type="dcterms:W3CDTF">2026-04-23T11:45:44Z</dcterms:modified>
</cp:coreProperties>
</file>